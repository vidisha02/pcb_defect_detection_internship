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09" r:id="rId23"/>
    <p:sldId id="277" r:id="rId24"/>
    <p:sldId id="278" r:id="rId25"/>
    <p:sldId id="279" r:id="rId26"/>
    <p:sldId id="280" r:id="rId27"/>
    <p:sldId id="281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10" r:id="rId53"/>
    <p:sldId id="308" r:id="rId5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93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8610-D877-62C8-D74A-430625AD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ECBB7-40FD-D2F2-3D70-AAF097316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76954-1245-FF17-3B37-1BB197C8D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FBCBC-BB25-02E0-634F-417EF9E95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876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5EEB-6F3C-A618-4CEF-FB1E3E45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598D9-A817-B8C2-D9F6-98E58F374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DF242-44F2-621D-0397-4B50703AE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CE800-167B-D66F-7D2A-512CADDEE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4697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13" Type="http://schemas.openxmlformats.org/officeDocument/2006/relationships/image" Target="../media/image45.jpg"/><Relationship Id="rId3" Type="http://schemas.openxmlformats.org/officeDocument/2006/relationships/image" Target="../media/image35.png"/><Relationship Id="rId7" Type="http://schemas.openxmlformats.org/officeDocument/2006/relationships/image" Target="../media/image39.jpg"/><Relationship Id="rId12" Type="http://schemas.openxmlformats.org/officeDocument/2006/relationships/image" Target="../media/image44.jp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4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g"/><Relationship Id="rId11" Type="http://schemas.openxmlformats.org/officeDocument/2006/relationships/image" Target="../media/image43.jpg"/><Relationship Id="rId5" Type="http://schemas.openxmlformats.org/officeDocument/2006/relationships/image" Target="../media/image37.jpg"/><Relationship Id="rId15" Type="http://schemas.openxmlformats.org/officeDocument/2006/relationships/image" Target="../media/image47.jpg"/><Relationship Id="rId10" Type="http://schemas.openxmlformats.org/officeDocument/2006/relationships/image" Target="../media/image42.jpg"/><Relationship Id="rId4" Type="http://schemas.openxmlformats.org/officeDocument/2006/relationships/image" Target="../media/image36.png"/><Relationship Id="rId9" Type="http://schemas.openxmlformats.org/officeDocument/2006/relationships/image" Target="../media/image41.jpg"/><Relationship Id="rId14" Type="http://schemas.openxmlformats.org/officeDocument/2006/relationships/image" Target="../media/image46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1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13.png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jp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548640"/>
            <a:ext cx="5669280" cy="5669280"/>
          </a:xfrm>
          <a:prstGeom prst="ellipse">
            <a:avLst/>
          </a:prstGeom>
          <a:ln w="25400">
            <a:solidFill>
              <a:srgbClr val="0E4E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463040"/>
            <a:ext cx="3840480" cy="3840480"/>
          </a:xfrm>
          <a:prstGeom prst="ellipse">
            <a:avLst/>
          </a:prstGeom>
          <a:ln w="25400">
            <a:solidFill>
              <a:srgbClr val="126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2331720"/>
            <a:ext cx="2103120" cy="2103120"/>
          </a:xfrm>
          <a:prstGeom prst="ellipse">
            <a:avLst/>
          </a:prstGeom>
          <a:ln w="25400">
            <a:solidFill>
              <a:srgbClr val="1670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920240"/>
            <a:ext cx="7498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 Defect</a:t>
            </a:r>
            <a:endParaRPr lang="en-US" sz="5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front-end and deep-learning detection pipeline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4800600"/>
            <a:ext cx="2926080" cy="0"/>
          </a:xfrm>
          <a:prstGeom prst="line">
            <a:avLst/>
          </a:prstGeom>
          <a:noFill/>
          <a:ln w="19050">
            <a:solidFill>
              <a:srgbClr val="2FB0A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005840"/>
            <a:ext cx="4754880" cy="4754880"/>
          </a:xfrm>
          <a:prstGeom prst="ellipse">
            <a:avLst/>
          </a:prstGeom>
          <a:ln w="25400">
            <a:solidFill>
              <a:srgbClr val="0E4E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737360"/>
            <a:ext cx="3291840" cy="3291840"/>
          </a:xfrm>
          <a:prstGeom prst="ellipse">
            <a:avLst/>
          </a:prstGeom>
          <a:ln w="25400">
            <a:solidFill>
              <a:srgbClr val="126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2468880"/>
            <a:ext cx="1828800" cy="1828800"/>
          </a:xfrm>
          <a:prstGeom prst="ellipse">
            <a:avLst/>
          </a:prstGeom>
          <a:ln w="25400">
            <a:solidFill>
              <a:srgbClr val="1670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78440" y="28803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amera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842" y="312176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37160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Camera, Resolution &amp; Working Distance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31520" y="2880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imaging front-end for PCB defect detection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150×150 mm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board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2044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352044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px/mm target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MP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630936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class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9828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Patches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909828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stitching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 — and why it matters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537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the camera cannot </a:t>
            </a: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resolve</a:t>
            </a:r>
            <a:r>
              <a:rPr lang="en-US" sz="16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invisible to every model downstream. This work fixes the capture parameters that decide whether the dataset contains detectable defects at all.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69480" y="14630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rule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543" y="15991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1444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target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01000" y="17556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defect sizes benchmarked to IPC-A-610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69480" y="22860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ons/crosshair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543" y="242206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01000" y="22677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001000" y="257860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px/mm rule and full-board pixel budgets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269480" y="31089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icons/camera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5543" y="324502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01000" y="3090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&amp; FOV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001000" y="34015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sensor, focal length and FOV set resolution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269480" y="39319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icons/arrowsV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5543" y="406798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01000" y="3913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distance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001000" y="42245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height derived from FOV, focal length &amp; sensor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269480" y="47548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icons/th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543" y="4890943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01000" y="4736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strategy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001000" y="50474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Full-board vs. component-level patches; stitching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269480" y="55778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icons/bookOpen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5543" y="5713903"/>
            <a:ext cx="294803" cy="29480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01000" y="5559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8001000" y="58704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papers and industrial AOI standards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48640" y="2926080"/>
            <a:ext cx="6537960" cy="2788920"/>
          </a:xfrm>
          <a:prstGeom prst="roundRect">
            <a:avLst>
              <a:gd name="adj" fmla="val 2623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82296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through-line</a:t>
            </a:r>
            <a:endParaRPr lang="en-US" sz="1700" dirty="0"/>
          </a:p>
        </p:txBody>
      </p:sp>
      <p:sp>
        <p:nvSpPr>
          <p:cNvPr id="31" name="Text 23"/>
          <p:cNvSpPr/>
          <p:nvPr/>
        </p:nvSpPr>
        <p:spPr>
          <a:xfrm>
            <a:off x="822960" y="36118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Resolution, working distance, and capture strategy together set an </a:t>
            </a: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 on detection accuracy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Get them right and the ML model has a fair chance; get them wrong and no architecture can recover.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22960" y="5029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begins at the lens, not the model.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classes and their physical sizes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defect classes with real-world sizes, per IPC-A-610. Board under test: 150 × 150 mm. The smallest features sit near or below 1 mm.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635240" cy="365760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55848" y="19659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56048" y="19659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64808" y="1965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view?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763524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31720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bridge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2331720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– 0.3 mm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56048" y="2331720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4808" y="2331720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19756"/>
            <a:ext cx="7635240" cy="28803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619756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2619756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– 0.5 mm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6048" y="2619756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64808" y="2619756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07792"/>
            <a:ext cx="763524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907792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circuit (trace)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2907792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– 0.5 mm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2907792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64808" y="2907792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195828"/>
            <a:ext cx="7635240" cy="28803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195828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55848" y="3195828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– 2.0 mm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3195828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64808" y="3195828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483864"/>
            <a:ext cx="763524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3483864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/ trace damage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5848" y="3483864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– 3.0 mm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56048" y="3483864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64808" y="3483864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771900"/>
            <a:ext cx="7635240" cy="28803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3771900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/ insufficient solder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55848" y="3771900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– 1.0 mm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56048" y="3771900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64808" y="3771900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(texture)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059936"/>
            <a:ext cx="763524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4059936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damage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55848" y="4059936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2.0 mm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56048" y="4059936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64808" y="4059936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4347972"/>
            <a:ext cx="7635240" cy="28803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" y="4347972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solder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55848" y="4347972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2.0 mm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56048" y="4347972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64808" y="4347972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4636008"/>
            <a:ext cx="763524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" y="4636008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liftup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55848" y="4636008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3.0 mm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56048" y="4636008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64808" y="4636008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oblique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4924044"/>
            <a:ext cx="7635240" cy="28803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56" name="Text 54"/>
          <p:cNvSpPr/>
          <p:nvPr/>
        </p:nvSpPr>
        <p:spPr>
          <a:xfrm>
            <a:off x="658368" y="4924044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object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55848" y="4924044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5.0 mm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956048" y="4924044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64808" y="4924044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48640" y="5212080"/>
            <a:ext cx="763524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58368" y="5212080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component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55848" y="5212080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10 mm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956048" y="5212080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64808" y="5212080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8640" y="5500116"/>
            <a:ext cx="7635240" cy="28803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66" name="Text 64"/>
          <p:cNvSpPr/>
          <p:nvPr/>
        </p:nvSpPr>
        <p:spPr>
          <a:xfrm>
            <a:off x="658368" y="5500116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component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355848" y="5500116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10 mm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956048" y="5500116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64808" y="5500116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48640" y="5788152"/>
            <a:ext cx="763524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658368" y="5788152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355848" y="5788152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– 5.0 mm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956048" y="5788152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464808" y="5788152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oblique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48640" y="6076188"/>
            <a:ext cx="7635240" cy="28803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76" name="Text 74"/>
          <p:cNvSpPr/>
          <p:nvPr/>
        </p:nvSpPr>
        <p:spPr>
          <a:xfrm>
            <a:off x="658368" y="6076188"/>
            <a:ext cx="2606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reversal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3355848" y="6076188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– 5.0 mm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956048" y="6076188"/>
            <a:ext cx="14173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464808" y="6076188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412480" y="1965960"/>
            <a:ext cx="3246120" cy="4023360"/>
          </a:xfrm>
          <a:prstGeom prst="roundRect">
            <a:avLst>
              <a:gd name="adj" fmla="val 2254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641080" y="2240280"/>
            <a:ext cx="685800" cy="685800"/>
          </a:xfrm>
          <a:prstGeom prst="ellipse">
            <a:avLst/>
          </a:prstGeom>
          <a:solidFill>
            <a:srgbClr val="083D42"/>
          </a:solidFill>
          <a:ln/>
        </p:spPr>
      </p:sp>
      <p:pic>
        <p:nvPicPr>
          <p:cNvPr id="82" name="Image 0" descr="icons/rul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2404872"/>
            <a:ext cx="356616" cy="356616"/>
          </a:xfrm>
          <a:prstGeom prst="rect">
            <a:avLst/>
          </a:prstGeom>
        </p:spPr>
      </p:pic>
      <p:sp>
        <p:nvSpPr>
          <p:cNvPr id="83" name="Text 80"/>
          <p:cNvSpPr/>
          <p:nvPr/>
        </p:nvSpPr>
        <p:spPr>
          <a:xfrm>
            <a:off x="8641080" y="3063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SIZE RANGE</a:t>
            </a:r>
            <a:endParaRPr lang="en-US" sz="1150" dirty="0"/>
          </a:p>
        </p:txBody>
      </p:sp>
      <p:sp>
        <p:nvSpPr>
          <p:cNvPr id="84" name="Text 81"/>
          <p:cNvSpPr/>
          <p:nvPr/>
        </p:nvSpPr>
        <p:spPr>
          <a:xfrm>
            <a:off x="8641080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span roughly 0.05 mm to 10 mm — over two orders of magnitude.</a:t>
            </a: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8641080" y="4343400"/>
            <a:ext cx="2788920" cy="0"/>
          </a:xfrm>
          <a:prstGeom prst="line">
            <a:avLst/>
          </a:prstGeom>
          <a:noFill/>
          <a:ln w="12700">
            <a:solidFill>
              <a:srgbClr val="2FB0A6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641080" y="44805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imaging setup must resolve the finest features while still covering large components — the requirement that drives every decision that follows.</a:t>
            </a:r>
            <a:endParaRPr lang="en-US" sz="1250" dirty="0"/>
          </a:p>
        </p:txBody>
      </p:sp>
      <p:sp>
        <p:nvSpPr>
          <p:cNvPr id="87" name="Text 84"/>
          <p:cNvSpPr/>
          <p:nvPr/>
        </p:nvSpPr>
        <p:spPr>
          <a:xfrm>
            <a:off x="548640" y="60533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9" name="Text 86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rule: 10 pixels across the smallest defect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px/mm</a:t>
            </a: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10 pixels  ÷  smallest defect size (mm)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10 px/mm is a floor, not a target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191256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546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near a tile edge lose pixels — effective coverage drops to 5–7 px.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694176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576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10×10 px region is a near-uniform blob — no texture for classification.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4197096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1605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boxes include surrounding context — at 10 px the whole region is tiny.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700016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6634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defects are irregular; below ~20 px shape information is lost entirely.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6492240" cy="685800"/>
          </a:xfrm>
          <a:prstGeom prst="roundRect">
            <a:avLst>
              <a:gd name="adj" fmla="val 10667"/>
            </a:avLst>
          </a:prstGeom>
          <a:solidFill>
            <a:srgbClr val="E8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57800"/>
            <a:ext cx="6126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minimum 20–30 px/mm.  </a:t>
            </a:r>
            <a:r>
              <a:rPr lang="en-US" sz="14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px/mm is the comfortable working target.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69480" y="1554480"/>
            <a:ext cx="4389120" cy="457200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18" name="Text 16"/>
          <p:cNvSpPr/>
          <p:nvPr/>
        </p:nvSpPr>
        <p:spPr>
          <a:xfrm>
            <a:off x="7379208" y="15544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px/mm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56448" y="155448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14816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46336" y="155448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mm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204704" y="1554480"/>
            <a:ext cx="1472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69480" y="2011680"/>
            <a:ext cx="4389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379208" y="201168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56448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10²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814816" y="201168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5²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46336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3²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204704" y="2011680"/>
            <a:ext cx="1472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min — risky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269480" y="2578608"/>
            <a:ext cx="4389120" cy="56692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0" name="Text 28"/>
          <p:cNvSpPr/>
          <p:nvPr/>
        </p:nvSpPr>
        <p:spPr>
          <a:xfrm>
            <a:off x="7379208" y="2578608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56448" y="2578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20²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814816" y="257860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10²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546336" y="2578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6²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204704" y="2578608"/>
            <a:ext cx="1472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for 1 mm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269480" y="3145536"/>
            <a:ext cx="4389120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7379208" y="3145536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156448" y="31455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30²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814816" y="314553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15²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546336" y="31455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9²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204704" y="3145536"/>
            <a:ext cx="1472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min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269480" y="3712464"/>
            <a:ext cx="4389120" cy="56692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2" name="Text 40"/>
          <p:cNvSpPr/>
          <p:nvPr/>
        </p:nvSpPr>
        <p:spPr>
          <a:xfrm>
            <a:off x="7379208" y="371246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156448" y="37124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50²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814816" y="371246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25²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546336" y="37124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15²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204704" y="3712464"/>
            <a:ext cx="1472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target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269480" y="4279392"/>
            <a:ext cx="4389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7379208" y="4279392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156448" y="4279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100²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814816" y="427939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50²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546336" y="4279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30²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0204704" y="4279392"/>
            <a:ext cx="1472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all defects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7208520" y="47000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across a defect at each resolution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 budget to cover the whole 150 mm board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pixels needed to image the full board at each target — this sets the camera class.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577840" cy="420624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7452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09928" y="18745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 (H)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78608" y="18745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 (V)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47288" y="1874520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07408" y="1874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shot?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95144"/>
            <a:ext cx="55778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95144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px/mm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09928" y="229514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229514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47288" y="2295144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~2.25 MP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07408" y="22951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camera — trivial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70632"/>
            <a:ext cx="5577840" cy="47548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770632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px/mm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09928" y="277063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277063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47288" y="2770632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07408" y="27706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12MP+ single shot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5577840" cy="4754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24612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px/mm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09928" y="324612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78608" y="324612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47288" y="3246120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07408" y="32461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20MP+ single shot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721608"/>
            <a:ext cx="5577840" cy="47548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72160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px/mm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09928" y="372160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78608" y="372160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47288" y="3721608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 MP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07408" y="37216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required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197096"/>
            <a:ext cx="55778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4197096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px/mm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09928" y="419709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78608" y="419709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47288" y="4197096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~225 MP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07408" y="419709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required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1874520"/>
            <a:ext cx="5303520" cy="420624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42" name="Text 40"/>
          <p:cNvSpPr/>
          <p:nvPr/>
        </p:nvSpPr>
        <p:spPr>
          <a:xfrm>
            <a:off x="6464808" y="18745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33488" y="18745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px/mm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65008" y="1874520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FOV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756648" y="18745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488168" y="187452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Stitch?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55080" y="2295144"/>
            <a:ext cx="530352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464808" y="2295144"/>
            <a:ext cx="7772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12MP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333488" y="2295144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65008" y="2295144"/>
            <a:ext cx="1600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402×303 mm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756648" y="2295144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488168" y="2295144"/>
            <a:ext cx="11887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355080" y="2583180"/>
            <a:ext cx="5303520" cy="28803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54" name="Text 52"/>
          <p:cNvSpPr/>
          <p:nvPr/>
        </p:nvSpPr>
        <p:spPr>
          <a:xfrm>
            <a:off x="6464808" y="2583180"/>
            <a:ext cx="7772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12MP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333488" y="2583180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065008" y="2583180"/>
            <a:ext cx="1600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134×101 mm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756648" y="2583180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488168" y="2583180"/>
            <a:ext cx="11887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355080" y="2871216"/>
            <a:ext cx="530352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464808" y="2871216"/>
            <a:ext cx="7772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12MP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333488" y="2871216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065008" y="2871216"/>
            <a:ext cx="1600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80×60 mm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756648" y="2871216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0488168" y="2871216"/>
            <a:ext cx="11887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355080" y="3159252"/>
            <a:ext cx="5303520" cy="28803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66" name="Text 64"/>
          <p:cNvSpPr/>
          <p:nvPr/>
        </p:nvSpPr>
        <p:spPr>
          <a:xfrm>
            <a:off x="6464808" y="3159252"/>
            <a:ext cx="7772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12MP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333488" y="3159252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065008" y="3159252"/>
            <a:ext cx="1600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40×30 mm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756648" y="3159252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0488168" y="3159252"/>
            <a:ext cx="11887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355080" y="3447288"/>
            <a:ext cx="530352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464808" y="3447288"/>
            <a:ext cx="7772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20MP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333488" y="3447288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8065008" y="3447288"/>
            <a:ext cx="1600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549×367 mm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9756648" y="3447288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10488168" y="3447288"/>
            <a:ext cx="11887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355080" y="3735324"/>
            <a:ext cx="5303520" cy="28803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8" name="Text 76"/>
          <p:cNvSpPr/>
          <p:nvPr/>
        </p:nvSpPr>
        <p:spPr>
          <a:xfrm>
            <a:off x="6464808" y="3735324"/>
            <a:ext cx="7772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20MP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7333488" y="3735324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8065008" y="3735324"/>
            <a:ext cx="1600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183×122 mm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9756648" y="3735324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0488168" y="3735324"/>
            <a:ext cx="11887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6355080" y="4023360"/>
            <a:ext cx="5303520" cy="288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6464808" y="4023360"/>
            <a:ext cx="7772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20MP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7333488" y="4023360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8065008" y="4023360"/>
            <a:ext cx="1600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110×73 mm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9756648" y="4023360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10488168" y="4023360"/>
            <a:ext cx="11887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355080" y="4311396"/>
            <a:ext cx="5303520" cy="28803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90" name="Text 88"/>
          <p:cNvSpPr/>
          <p:nvPr/>
        </p:nvSpPr>
        <p:spPr>
          <a:xfrm>
            <a:off x="6464808" y="4311396"/>
            <a:ext cx="7772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20MP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7333488" y="4311396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8065008" y="4311396"/>
            <a:ext cx="16002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55×37 mm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9756648" y="4311396"/>
            <a:ext cx="6400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0488168" y="4311396"/>
            <a:ext cx="11887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548640" y="48920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868680" y="509320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7" name="Image 0" descr="icons/checkCirc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5246827"/>
            <a:ext cx="332842" cy="332842"/>
          </a:xfrm>
          <a:prstGeom prst="rect">
            <a:avLst/>
          </a:prstGeom>
        </p:spPr>
      </p:pic>
      <p:sp>
        <p:nvSpPr>
          <p:cNvPr id="98" name="Text 95"/>
          <p:cNvSpPr/>
          <p:nvPr/>
        </p:nvSpPr>
        <p:spPr>
          <a:xfrm>
            <a:off x="1737360" y="509320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 px/mm a 20 MP camera (5496 × 3672) covers the full board in one shot — 5496 ÷ 30 = 183 mm &gt; 150 mm. No stitching needed for the prototype.</a:t>
            </a:r>
            <a:endParaRPr lang="en-US" sz="1450" dirty="0"/>
          </a:p>
        </p:txBody>
      </p:sp>
      <p:sp>
        <p:nvSpPr>
          <p:cNvPr id="100" name="Text 97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choose three things; the rest is calculated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focal length and FOV are our decisions. Resolution and working distance follow from them by formula.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E4E5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microchi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34635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pixel count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830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camera datasheet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874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E4E54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s/camera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510" y="234635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Focal length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321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lens we buy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1874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E4E54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1488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icons/crosshai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550" y="234635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8116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of View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28116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area per patch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5204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E4E54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3703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Distance  =  (FOV × Focal Length) ÷ Sensor Size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77240" y="4160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px/mm  =  Sensor Pixels (H) ÷ FOV (mm)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172200" y="35204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E4E54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0" y="36758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(20 MP, 35 mm lens, 35 mm FOV):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40080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WD = (35 × 35) ÷ 13.3 = 92 mm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00800" y="4370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px/mm = 5496 ÷ 35 = 157 px/mm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48640" y="4983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Focal length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48640" y="532180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change resolution — only working distance moves if FOV is fixed.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297680" y="4983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FOV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297680" y="532180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mm per patch, so the same pixels cover less area → higher px/mm.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046720" y="4983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megapixels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046720" y="532180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px/mm at the same FOV &amp; WD — cleanest way to raise resolution.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FOV is derived from how the board is tiled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size and patch count fix the FOV; FOV then fixes px/mm and working distance. Example: a 5 × 6 grid = 30 patches over the 150 mm board.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00800" cy="457200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12848" y="1965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27248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33088" y="1965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38928" y="1965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FOV/patch (20% overlap)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6400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423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(X)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12848" y="24231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27248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33088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38928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 mm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6400800" cy="4572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8803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(Y)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12848" y="28803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27248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rows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33088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38928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31.25 mm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429000"/>
            <a:ext cx="6400800" cy="457200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FOV/patch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95728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px/mm (20 MP)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15968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(150 mm, 20% overlap)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6400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886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395728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px/mm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315968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(4×4)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64008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4343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395728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px/mm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315968" y="4343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(5×6)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800600"/>
            <a:ext cx="6400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4800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mm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395728" y="4800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px/mm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315968" y="4800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 (8×8)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257800"/>
            <a:ext cx="6400800" cy="4572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5257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mm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395728" y="5257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px/mm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315968" y="5257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 (10×10)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223760" y="1965960"/>
            <a:ext cx="4434840" cy="3749040"/>
          </a:xfrm>
          <a:prstGeom prst="roundRect">
            <a:avLst>
              <a:gd name="adj" fmla="val 1951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98080" y="22402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5" name="Image 0" descr="icons/t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18" y="2426818"/>
            <a:ext cx="404165" cy="404165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841248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7498080" y="306324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larger patches</a:t>
            </a:r>
            <a:r>
              <a:rPr lang="en-US" sz="14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lower px/mm, less data to manage.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More, smaller patches</a:t>
            </a:r>
            <a:r>
              <a:rPr lang="en-US" sz="14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higher px/mm, but more images and more boundary splits.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7498080" y="4892040"/>
            <a:ext cx="3931920" cy="0"/>
          </a:xfrm>
          <a:prstGeom prst="line">
            <a:avLst/>
          </a:prstGeom>
          <a:noFill/>
          <a:ln w="12700">
            <a:solidFill>
              <a:srgbClr val="2FB0A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98080" y="50292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 used component-level patches — matching the right-hand side of this trade-off.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Megapixels raise resolution; focal length does not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fixed 35 mm FOV, more sensor pixels means more px/mm. Focal length only moves the working distance — px/mm stays identical.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669280" cy="457200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10128" y="19202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px (H)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44568" y="192024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21808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px/mm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6692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Hikrobot 5MP (IMX264)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23774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2448 px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44568" y="237744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21808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px/mm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5669280" cy="4572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Hikrobot 12MP (IMX226)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10128" y="28346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4024 px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44568" y="283464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21808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px/mm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566928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Hikrobot 20MP (IMX183)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0128" y="32918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5496 px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44568" y="329184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21808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px/mm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5669280" cy="4572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Atlas10 (IMX925)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10128" y="37490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5328 px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44568" y="374904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21808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px/mm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41605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FOV → resolution scales with sensor pixels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1920240"/>
            <a:ext cx="5257800" cy="457200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32" name="Text 30"/>
          <p:cNvSpPr/>
          <p:nvPr/>
        </p:nvSpPr>
        <p:spPr>
          <a:xfrm>
            <a:off x="651052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length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73568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79408" y="19202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13848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px/mm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2377440"/>
            <a:ext cx="5257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510528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973568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mm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979408" y="23774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mm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213848" y="2377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px/mm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0" y="2834640"/>
            <a:ext cx="5257800" cy="4572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2" name="Text 40"/>
          <p:cNvSpPr/>
          <p:nvPr/>
        </p:nvSpPr>
        <p:spPr>
          <a:xfrm>
            <a:off x="6510528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mm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973568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mm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979408" y="28346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mm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213848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px/mm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0" y="3291840"/>
            <a:ext cx="5257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510528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mm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973568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mm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979408" y="32918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mm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213848" y="3291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px/mm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00800" y="3749040"/>
            <a:ext cx="5257800" cy="4572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52" name="Text 50"/>
          <p:cNvSpPr/>
          <p:nvPr/>
        </p:nvSpPr>
        <p:spPr>
          <a:xfrm>
            <a:off x="6510528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mm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7973568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mm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979408" y="374904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mm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0213848" y="3749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px/mm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400800" y="416052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 fixed at 35 mm → focal length changes only WD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475488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22960" y="49377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lever: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raise resolution without touching the physical setup, buy a higher-MP sensor. FOV and working distance stay the same — only pixels-per-mm change. Focal length is chosen purely to place the camera at a convenient bench height.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Full-board vs. component-level patches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icons/expan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0153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20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Full-board capture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(or stitched composite) of the entire 150 × 150 mm PCB.</a:t>
            </a:r>
            <a:endParaRPr lang="en-US" sz="1250" dirty="0"/>
          </a:p>
        </p:txBody>
      </p:sp>
      <p:pic>
        <p:nvPicPr>
          <p:cNvPr id="9" name="Image 1" descr="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1868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32004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pipeline — one image per PCB</a:t>
            </a:r>
            <a:endParaRPr lang="en-US" sz="1250" dirty="0"/>
          </a:p>
        </p:txBody>
      </p:sp>
      <p:pic>
        <p:nvPicPr>
          <p:cNvPr id="11" name="Image 2" descr="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9417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367588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spatial context &amp; component positions</a:t>
            </a:r>
            <a:endParaRPr lang="en-US" sz="1250" dirty="0"/>
          </a:p>
        </p:txBody>
      </p:sp>
      <p:pic>
        <p:nvPicPr>
          <p:cNvPr id="13" name="Image 3" descr="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966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0432" y="415137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 missing / wrong / polarity defects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886968" y="4718304"/>
            <a:ext cx="128016" cy="12801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6" name="Text 10"/>
          <p:cNvSpPr/>
          <p:nvPr/>
        </p:nvSpPr>
        <p:spPr>
          <a:xfrm>
            <a:off x="1170432" y="467258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mm defect = 0.04% of a 4500² image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86968" y="5193792"/>
            <a:ext cx="128016" cy="12801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2"/>
          <p:cNvSpPr/>
          <p:nvPr/>
        </p:nvSpPr>
        <p:spPr>
          <a:xfrm>
            <a:off x="1170432" y="514807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scale imbalance hurts small-defect detection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217920" y="15544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92240" y="182880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4" descr="icons/th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778" y="2015338"/>
            <a:ext cx="404165" cy="4041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0664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Component-level patches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649224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split into a grid of small crops, each fed to the model.</a:t>
            </a:r>
            <a:endParaRPr lang="en-US" sz="1250" dirty="0"/>
          </a:p>
        </p:txBody>
      </p:sp>
      <p:pic>
        <p:nvPicPr>
          <p:cNvPr id="24" name="Image 5" descr="icons/checkCircle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218688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39712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fills a large fraction of each patch</a:t>
            </a:r>
            <a:endParaRPr lang="en-US" sz="1250" dirty="0"/>
          </a:p>
        </p:txBody>
      </p:sp>
      <p:pic>
        <p:nvPicPr>
          <p:cNvPr id="26" name="Image 6" descr="icons/checkCircle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694176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839712" y="36758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× 20 mm at 50 px/mm = 1000² px</a:t>
            </a:r>
            <a:endParaRPr lang="en-US" sz="1250" dirty="0"/>
          </a:p>
        </p:txBody>
      </p:sp>
      <p:pic>
        <p:nvPicPr>
          <p:cNvPr id="28" name="Image 7" descr="icons/checkCircle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169664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39712" y="415137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how our dataset was actually built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6556248" y="4718304"/>
            <a:ext cx="128016" cy="12801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31" name="Text 21"/>
          <p:cNvSpPr/>
          <p:nvPr/>
        </p:nvSpPr>
        <p:spPr>
          <a:xfrm>
            <a:off x="6839712" y="46725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at patch borders may be split</a:t>
            </a:r>
            <a:endParaRPr lang="en-US" sz="1250" dirty="0"/>
          </a:p>
        </p:txBody>
      </p:sp>
      <p:sp>
        <p:nvSpPr>
          <p:cNvPr id="33" name="Text 23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defects need only a top-down 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overhead camera is simple and repeatable. Only two defect types need an added oblique (30–45°) view.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949440" cy="402336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745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type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01568" y="18745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view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21808" y="187452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Oblique / side 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76856"/>
            <a:ext cx="694944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27685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component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01568" y="2276856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21808" y="2276856"/>
            <a:ext cx="2194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19756"/>
            <a:ext cx="6949440" cy="3429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61975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component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2619756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21808" y="2619756"/>
            <a:ext cx="2194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62656"/>
            <a:ext cx="694944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6265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2962656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21808" y="2962656"/>
            <a:ext cx="2194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05556"/>
            <a:ext cx="6949440" cy="3429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30555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solder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01568" y="3305556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3305556"/>
            <a:ext cx="2194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48456"/>
            <a:ext cx="694944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64845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bridge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01568" y="3648456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3648456"/>
            <a:ext cx="2194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991356"/>
            <a:ext cx="6949440" cy="3429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99135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damage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01568" y="3991356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21808" y="3991356"/>
            <a:ext cx="2194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334256"/>
            <a:ext cx="694944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433425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01568" y="4334256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21808" y="4334256"/>
            <a:ext cx="2194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677156"/>
            <a:ext cx="6949440" cy="3429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467715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reversal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01568" y="4677156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21808" y="4677156"/>
            <a:ext cx="2194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020056"/>
            <a:ext cx="6949440" cy="3429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502005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01568" y="5020056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only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21808" y="5020056"/>
            <a:ext cx="2194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(30–45°)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362956"/>
            <a:ext cx="6949440" cy="3429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" y="5362956"/>
            <a:ext cx="26517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liftup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01568" y="5362956"/>
            <a:ext cx="1828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only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21808" y="5362956"/>
            <a:ext cx="2194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(30–45°)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726680" y="18745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001000" y="210312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1" name="Image 0" descr="icons/camera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267712"/>
            <a:ext cx="356616" cy="356616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882396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camera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8001000" y="278892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overhead. Simple, no moving camera parts, no alignment error — position is fixed and repeatable.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7726680" y="384048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8001000" y="40690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6" name="Image 1" descr="icons/th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4233672"/>
            <a:ext cx="356616" cy="356616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882396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+ motorised stage</a:t>
            </a:r>
            <a:endParaRPr lang="en-US" sz="1400" dirty="0"/>
          </a:p>
        </p:txBody>
      </p:sp>
      <p:sp>
        <p:nvSpPr>
          <p:cNvPr id="58" name="Text 54"/>
          <p:cNvSpPr/>
          <p:nvPr/>
        </p:nvSpPr>
        <p:spPr>
          <a:xfrm>
            <a:off x="8001000" y="475488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stays put; the stage moves the PCB through a grid, capturing one tile per position for stitching.</a:t>
            </a:r>
            <a:endParaRPr lang="en-US" sz="1200" dirty="0"/>
          </a:p>
        </p:txBody>
      </p:sp>
      <p:sp>
        <p:nvSpPr>
          <p:cNvPr id="60" name="Text 56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stitching needed?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is required whenever a single camera frame cannot cover the board at the desired resolution.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760720" cy="457200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21408" y="1965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01568" y="19659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93208" y="19659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760720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231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21408" y="242316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px/mm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242316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(single shot)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93208" y="2423160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990088"/>
            <a:ext cx="5760720" cy="56692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9900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21408" y="299008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px/mm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2990088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93208" y="2990088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57016"/>
            <a:ext cx="5760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55701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21408" y="35570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px/mm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01568" y="3557016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93208" y="3557016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123944"/>
            <a:ext cx="5760720" cy="56692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12394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camera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21408" y="412394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px/mm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01568" y="412394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tiles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93208" y="4123944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75120" y="1965960"/>
            <a:ext cx="4983480" cy="1737360"/>
          </a:xfrm>
          <a:prstGeom prst="roundRect">
            <a:avLst>
              <a:gd name="adj" fmla="val 4211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49440" y="22402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2" name="Image 0" descr="icons/th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5" y="2415845"/>
            <a:ext cx="380390" cy="38039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81812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stitching works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49440" y="29718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stays fixed while a motorised stage moves the PCB through a grid of positions — one tile captured per position, then software-stitched into a full high-resolution view.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675120" y="3886200"/>
            <a:ext cx="4983480" cy="1928004"/>
          </a:xfrm>
          <a:prstGeom prst="roundRect">
            <a:avLst>
              <a:gd name="adj" fmla="val 4211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949440" y="416052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7" name="Image 1" descr="icons/bullsey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05" y="4336085"/>
            <a:ext cx="380390" cy="38039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81812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trade-off it buys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6949440" y="48920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adds mechanical and software complexity, but it is the only way to reach high per-defect resolution on a large board — capturing many small, high-detail patches instead of one coarse overview.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548640" y="507492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1" name="Text 37"/>
          <p:cNvSpPr/>
          <p:nvPr/>
        </p:nvSpPr>
        <p:spPr>
          <a:xfrm>
            <a:off x="822960" y="50749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project: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high resolution over the full board means stitching multiple patches.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 corroborated by literature &amp; industry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is backed by peer-reviewed research and industrial AOI standards.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0E4E5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book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4176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7627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DeepPCB — SJTU, 2019 (arXiv:1902.06197)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25786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captured at ~48 px/mm; 16000² images cropped to 640² patches — validates the 30–50 px/mm range.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201168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0E4E54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2860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s/book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24176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2176272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Reports — Nature, 2024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086600" y="25786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input 640→800 px measurably improves AP and AR; more pixels per defect directly helps detection.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31012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0E4E54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358444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icons/book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371612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4747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ZhenHuaXing AOI Selection Guide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63040" y="387705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0402 parts need 25 µm/px = 40 px/mm; 01005 need &lt;12 µm/px — our 30–50 band sits right in range.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72200" y="3310128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0E4E54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0" y="358444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icons/book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3716122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34747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Small-Object Detection, YOLOv4 — Comp. &amp; Elec. Eng., 2023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086600" y="387705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low resolution as a primary cause of missed small objects — fix resolution at capture, not in the model.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4608576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0E4E54"/>
          </a:solidFill>
          <a:ln/>
        </p:spPr>
      </p:sp>
      <p:sp>
        <p:nvSpPr>
          <p:cNvPr id="26" name="Shape 20"/>
          <p:cNvSpPr/>
          <p:nvPr/>
        </p:nvSpPr>
        <p:spPr>
          <a:xfrm>
            <a:off x="777240" y="488289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4" descr="icons/bookOpe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5014570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477316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 — Introduction to AOI White Paper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463040" y="517550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µm/px = 100 px/mm is high-end fine-pitch AOI; 30–50 px/mm aligns with standard-component inspection.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446520" y="4480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Convergent conclusion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6446520" y="48006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sources — academic and industrial — all place reliable PCB inspection in the 30–100 px/mm band. Our 30–50 px/mm target is squarely inside it.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inspection is done now — and its limits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setup relies on manual adjustment for every board and defect. This is slow, non-repeatable, and hard to feed a consistent dataset to a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icons/co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4268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31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practice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3200400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31546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FOV limited to ~15 mm maximum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3657600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1170432" y="36118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working distance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1"/>
          <p:cNvSpPr/>
          <p:nvPr/>
        </p:nvSpPr>
        <p:spPr>
          <a:xfrm>
            <a:off x="1170432" y="40690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distance changed manually per component size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4572000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3"/>
          <p:cNvSpPr/>
          <p:nvPr/>
        </p:nvSpPr>
        <p:spPr>
          <a:xfrm>
            <a:off x="1170432" y="45262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moves only up and down (Z only)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5029200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5"/>
          <p:cNvSpPr/>
          <p:nvPr/>
        </p:nvSpPr>
        <p:spPr>
          <a:xfrm>
            <a:off x="1170432" y="49834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moved by hand to capture different defects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68680" y="5486400"/>
            <a:ext cx="137160" cy="1371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7"/>
          <p:cNvSpPr/>
          <p:nvPr/>
        </p:nvSpPr>
        <p:spPr>
          <a:xfrm>
            <a:off x="1170432" y="544068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cannot tilt — no oblique views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17920" y="196596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92240" y="22402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1" descr="icons/checkCircl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2426818"/>
            <a:ext cx="404165" cy="40416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06640" y="2331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analysis enables</a:t>
            </a:r>
            <a:endParaRPr lang="en-US" sz="1800" dirty="0"/>
          </a:p>
        </p:txBody>
      </p:sp>
      <p:pic>
        <p:nvPicPr>
          <p:cNvPr id="25" name="Image 2" descr="icons/checkCircl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182112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12280" y="31546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target derived from defect sizes, not guessed</a:t>
            </a:r>
            <a:endParaRPr lang="en-US" sz="1300" dirty="0"/>
          </a:p>
        </p:txBody>
      </p:sp>
      <p:pic>
        <p:nvPicPr>
          <p:cNvPr id="27" name="Image 3" descr="icons/checkCircl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712464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12280" y="368503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distance fixed by formula once lens is chosen</a:t>
            </a:r>
            <a:endParaRPr lang="en-US" sz="1300" dirty="0"/>
          </a:p>
        </p:txBody>
      </p:sp>
      <p:pic>
        <p:nvPicPr>
          <p:cNvPr id="29" name="Image 4" descr="icons/checkCircl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242816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12280" y="421538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patch grid instead of ad-hoc hand movement</a:t>
            </a:r>
            <a:endParaRPr lang="en-US" sz="1300" dirty="0"/>
          </a:p>
        </p:txBody>
      </p:sp>
      <p:pic>
        <p:nvPicPr>
          <p:cNvPr id="31" name="Image 5" descr="icons/checkCircl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773168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47457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high-resolution dataset for the model</a:t>
            </a:r>
            <a:endParaRPr lang="en-US" sz="1300" dirty="0"/>
          </a:p>
        </p:txBody>
      </p:sp>
      <p:pic>
        <p:nvPicPr>
          <p:cNvPr id="33" name="Image 6" descr="icons/checkCircl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5303520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12280" y="52760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upgrade path: more patches → higher resolution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ln w="25400">
            <a:solidFill>
              <a:srgbClr val="0E4E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-365760"/>
            <a:ext cx="2926080" cy="2926080"/>
          </a:xfrm>
          <a:prstGeom prst="ellipse">
            <a:avLst/>
          </a:prstGeom>
          <a:ln w="25400">
            <a:solidFill>
              <a:srgbClr val="1455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recommend, and what comes next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bullsey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205008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5623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a 30–50 px/mm resolution target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00200" y="2258568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resolution band the analysis and the literature both point to for reliably detecting our defects.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953512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t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5" y="3129077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3522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the board as many small patches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00200" y="33375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high-resolution patches capture fine defects far better than one full-board image — so stitching multiple patches will be required.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032504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icons/flas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5" y="4208069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1421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count &amp; FOV need experimentation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00200" y="441655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how many patches (and therefore the FOV) is not a single formula — it needs experiments to balance resolution, defect coverage, and boundary splits.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5111496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3" descr="icons/arrowsV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5" y="5287061"/>
            <a:ext cx="380390" cy="3803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093208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&amp; lens then fix the working distance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600200" y="5495544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camera and lens are selected, the focal length is known — and the working distance follows directly from the FOV formula.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1020" y="6069787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22960" y="5806440"/>
            <a:ext cx="10607040" cy="1135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 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target is set; the capture strategy is patches + stitching; patch count needs experiments; the working distance falls out once the camera and lens are fixed.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005840"/>
            <a:ext cx="4754880" cy="4754880"/>
          </a:xfrm>
          <a:prstGeom prst="ellipse">
            <a:avLst/>
          </a:prstGeom>
          <a:ln w="25400">
            <a:solidFill>
              <a:srgbClr val="0E4E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737360"/>
            <a:ext cx="3291840" cy="3291840"/>
          </a:xfrm>
          <a:prstGeom prst="ellipse">
            <a:avLst/>
          </a:prstGeom>
          <a:ln w="25400">
            <a:solidFill>
              <a:srgbClr val="126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0" y="2468880"/>
            <a:ext cx="1828800" cy="1828800"/>
          </a:xfrm>
          <a:prstGeom prst="ellipse">
            <a:avLst/>
          </a:prstGeom>
          <a:ln w="25400">
            <a:solidFill>
              <a:srgbClr val="1670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78440" y="288036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microchi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842" y="312176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68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37160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Deep-Learning Defect Detection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31520" y="2880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training a detector on the annotated PCB dataset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~550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annotated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2044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52044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 · RT-DETR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30936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9828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GMO-DETR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09828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5">
            <a:extLst>
              <a:ext uri="{FF2B5EF4-FFF2-40B4-BE49-F238E27FC236}">
                <a16:creationId xmlns:a16="http://schemas.microsoft.com/office/drawing/2014/main" id="{FADB750F-C90E-DAFF-9F6F-9E6513F11A1B}"/>
              </a:ext>
            </a:extLst>
          </p:cNvPr>
          <p:cNvSpPr/>
          <p:nvPr/>
        </p:nvSpPr>
        <p:spPr>
          <a:xfrm>
            <a:off x="8325929" y="1828800"/>
            <a:ext cx="3641688" cy="2306794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3E4E2"/>
            </a:solidFill>
            <a:prstDash val="solid"/>
          </a:ln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~550 defect images annotated in CVAT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defect was manually labelled with a bounding box and class in CVAT, producing the training dataset. A few examples across defect types: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3" y="1837945"/>
            <a:ext cx="3420546" cy="2296813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3E4E2"/>
            </a:solidFill>
            <a:prstDash val="solid"/>
          </a:ln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2355" y="4046125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Missing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05636" y="1847088"/>
            <a:ext cx="3641688" cy="228767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3E4E2"/>
            </a:solidFill>
            <a:prstDash val="solid"/>
          </a:ln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270163" y="40631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Short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4397325"/>
            <a:ext cx="3447979" cy="2192976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3E4E2"/>
            </a:solidFill>
            <a:prstDash val="solid"/>
          </a:ln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8"/>
          <p:cNvSpPr/>
          <p:nvPr/>
        </p:nvSpPr>
        <p:spPr>
          <a:xfrm>
            <a:off x="432355" y="647395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Solder Dry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275320" y="4013277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Crack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A9B302B-2FF4-A5B8-3F31-B7857E806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74" y="1899019"/>
            <a:ext cx="3531797" cy="21667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09841DF-B9EF-CE34-F4E2-3CC9F5C88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94" y="4453415"/>
            <a:ext cx="3301864" cy="20703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7941BE0-DFC6-71CB-90C3-AA7AD8C06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296" y="1890002"/>
            <a:ext cx="3506169" cy="217572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5D9D2A7-4245-0DC5-E1B2-163168D03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694" y="1885997"/>
            <a:ext cx="3301864" cy="2179735"/>
          </a:xfrm>
          <a:prstGeom prst="rect">
            <a:avLst/>
          </a:prstGeom>
        </p:spPr>
      </p:pic>
      <p:sp>
        <p:nvSpPr>
          <p:cNvPr id="30" name="Shape 3">
            <a:extLst>
              <a:ext uri="{FF2B5EF4-FFF2-40B4-BE49-F238E27FC236}">
                <a16:creationId xmlns:a16="http://schemas.microsoft.com/office/drawing/2014/main" id="{B4D1F12C-F02A-77EE-CAC4-9979ACDFC8F6}"/>
              </a:ext>
            </a:extLst>
          </p:cNvPr>
          <p:cNvSpPr/>
          <p:nvPr/>
        </p:nvSpPr>
        <p:spPr>
          <a:xfrm>
            <a:off x="4308820" y="4389995"/>
            <a:ext cx="3638504" cy="2192977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3E4E2"/>
            </a:solidFill>
            <a:prstDash val="solid"/>
          </a:ln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38304D94-7692-328C-1225-B3F957855A74}"/>
              </a:ext>
            </a:extLst>
          </p:cNvPr>
          <p:cNvSpPr/>
          <p:nvPr/>
        </p:nvSpPr>
        <p:spPr>
          <a:xfrm>
            <a:off x="8325929" y="4374206"/>
            <a:ext cx="3641688" cy="2207596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3E4E2"/>
            </a:solidFill>
            <a:prstDash val="solid"/>
          </a:ln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23C3B1F-D292-2C7E-3D2C-B4D47EC61B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7296" y="4447148"/>
            <a:ext cx="3506169" cy="2076627"/>
          </a:xfrm>
          <a:prstGeom prst="rect">
            <a:avLst/>
          </a:prstGeom>
        </p:spPr>
      </p:pic>
      <p:sp>
        <p:nvSpPr>
          <p:cNvPr id="40" name="Text 8">
            <a:extLst>
              <a:ext uri="{FF2B5EF4-FFF2-40B4-BE49-F238E27FC236}">
                <a16:creationId xmlns:a16="http://schemas.microsoft.com/office/drawing/2014/main" id="{A16BD4E2-03E8-AA7D-6754-A758A050D30F}"/>
              </a:ext>
            </a:extLst>
          </p:cNvPr>
          <p:cNvSpPr/>
          <p:nvPr/>
        </p:nvSpPr>
        <p:spPr>
          <a:xfrm>
            <a:off x="4245329" y="648942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Tombstone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1E121B3-7422-2DA9-D320-FBE711DB73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0874" y="4436684"/>
            <a:ext cx="3531797" cy="2087091"/>
          </a:xfrm>
          <a:prstGeom prst="rect">
            <a:avLst/>
          </a:prstGeom>
        </p:spPr>
      </p:pic>
      <p:sp>
        <p:nvSpPr>
          <p:cNvPr id="44" name="Text 8">
            <a:extLst>
              <a:ext uri="{FF2B5EF4-FFF2-40B4-BE49-F238E27FC236}">
                <a16:creationId xmlns:a16="http://schemas.microsoft.com/office/drawing/2014/main" id="{06EF2F18-6F28-C79C-B557-2C23D01678D7}"/>
              </a:ext>
            </a:extLst>
          </p:cNvPr>
          <p:cNvSpPr/>
          <p:nvPr/>
        </p:nvSpPr>
        <p:spPr>
          <a:xfrm>
            <a:off x="8275320" y="646540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No Solder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started: YOLO on ~92 images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YOLO model was trained on only ~92 annotated images. It set the initial benchmark — and made clear that more labelled data was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8F4F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0.497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8F4F3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0.248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8F4F3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0.479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8915400" y="219456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E8F4F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248716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0" y="2926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 annotated images  ·  YOLO  ·  no negatives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5720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images is very little for 12 defect classes — several classes had only a handful of examples, capping how well any model could learn. The next step was to annotate substantially more data.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~550 images annotated across 12 classes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expanded to ~550 images and ~600 defect instances. The class distribution is highly imbalanced — a key factor in the later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623560" cy="365760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11880" y="1874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1874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49240" y="1874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5623560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40280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Short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2240280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2240280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49240" y="2240280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546604"/>
            <a:ext cx="5623560" cy="306324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46604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Solder Dry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2546604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2546604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49240" y="2546604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852928"/>
            <a:ext cx="5623560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852928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No Solder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11880" y="2852928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80560" y="2852928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49240" y="2852928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159252"/>
            <a:ext cx="5623560" cy="306324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159252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Missing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11880" y="3159252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80560" y="3159252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49240" y="3159252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465576"/>
            <a:ext cx="5623560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465576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Ball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11880" y="3465576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80560" y="3465576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49240" y="3465576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771900"/>
            <a:ext cx="5623560" cy="306324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771900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Wrong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11880" y="3771900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480560" y="3771900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3771900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078224"/>
            <a:ext cx="5623560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4078224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RYB Wrong Sequence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11880" y="4078224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80560" y="4078224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49240" y="4078224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384548"/>
            <a:ext cx="5623560" cy="306324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4384548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Liftup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611880" y="4384548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480560" y="4384548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349240" y="4384548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4690872"/>
            <a:ext cx="5623560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4690872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611880" y="4690872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480560" y="4690872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349240" y="4690872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" y="4997196"/>
            <a:ext cx="5623560" cy="306324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4997196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Damage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611880" y="4997196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480560" y="4997196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349240" y="4997196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303520"/>
            <a:ext cx="5623560" cy="3063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" y="5303520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Crack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611880" y="5303520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480560" y="5303520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349240" y="5303520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48640" y="5609844"/>
            <a:ext cx="5623560" cy="306324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66" name="Text 64"/>
          <p:cNvSpPr/>
          <p:nvPr/>
        </p:nvSpPr>
        <p:spPr>
          <a:xfrm>
            <a:off x="685800" y="5609844"/>
            <a:ext cx="292608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Damage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611880" y="5609844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480560" y="5609844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349240" y="5609844"/>
            <a:ext cx="822960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48640" y="5971032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total instances  ·  441 train + 110 val images  ·  548 images resolved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446520" y="1874520"/>
            <a:ext cx="5212080" cy="3977640"/>
          </a:xfrm>
          <a:prstGeom prst="roundRect">
            <a:avLst>
              <a:gd name="adj" fmla="val 920"/>
            </a:avLst>
          </a:prstGeom>
          <a:solidFill>
            <a:srgbClr val="EEF4F3"/>
          </a:solidFill>
          <a:ln w="15875">
            <a:solidFill>
              <a:srgbClr val="028090"/>
            </a:solidFill>
            <a:prstDash val="dash"/>
          </a:ln>
        </p:spPr>
      </p:sp>
      <p:pic>
        <p:nvPicPr>
          <p:cNvPr id="72" name="Image 0" descr="icons/chartBa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3163824"/>
            <a:ext cx="822960" cy="82296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6537960" y="4069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bar chart ]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per defect category</a:t>
            </a:r>
            <a:endParaRPr lang="en-US" sz="1250" dirty="0"/>
          </a:p>
        </p:txBody>
      </p:sp>
      <p:sp>
        <p:nvSpPr>
          <p:cNvPr id="75" name="Text 72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E83CF04A-A20A-BFBF-9004-FD560BEDF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092" y="1869948"/>
            <a:ext cx="5207508" cy="39822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data lifts the baseline across every metric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Re-training YOLO11s on the larger ~550-image dataset (plus negatives) improves every metric substantially over the ~92-image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E8F4F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0.497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baseline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4015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6596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+0.236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210312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E8F4F3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6160" y="26060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0.248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66160" y="32004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baseline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34015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10312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E8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26060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55080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0.479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355080" y="32004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baseline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34015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54380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+0.331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15400" y="210312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E8F4F3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2286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0" y="26060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44000" y="281635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144000" y="32004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baseline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44000" y="340156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33272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= ~92-image YOLO run (no negatives)   ·   New baseline = ~550 images + non-def negatives, YOLO11s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70916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68680" y="4956048"/>
            <a:ext cx="685800" cy="685800"/>
          </a:xfrm>
          <a:prstGeom prst="ellipse">
            <a:avLst/>
          </a:prstGeom>
          <a:solidFill>
            <a:srgbClr val="083D42"/>
          </a:solidFill>
          <a:ln/>
        </p:spPr>
      </p:sp>
      <p:pic>
        <p:nvPicPr>
          <p:cNvPr id="36" name="Image 0" descr="icons/seedl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120640"/>
            <a:ext cx="356616" cy="35661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737360" y="495604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improved: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annotated data gives the model far more examples per class, and the added defect-free negatives reduce false positives on clean regions — together lifting precision and recall across the board.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DIAGNOSTICS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 — F1 &amp; PR curves</a:t>
            </a:r>
            <a:endParaRPr lang="en-US" sz="2900" dirty="0"/>
          </a:p>
        </p:txBody>
      </p:sp>
      <p:sp>
        <p:nvSpPr>
          <p:cNvPr id="12" name="Text 7"/>
          <p:cNvSpPr/>
          <p:nvPr/>
        </p:nvSpPr>
        <p:spPr>
          <a:xfrm>
            <a:off x="8119872" y="39776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7096E9-9A4F-3347-2A47-F51E0833E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94075"/>
            <a:ext cx="5153420" cy="44185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3291069-6BBC-8DF2-87A3-73F3355C5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242" y="1594075"/>
            <a:ext cx="5331987" cy="44185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7296-E6CE-6100-F056-1D5E82E9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4C6EBC-E44B-8075-2612-1ABEAE7840A9}"/>
              </a:ext>
            </a:extLst>
          </p:cNvPr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DIAGNOSTICS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434DF6-683E-C4CD-E6DA-2CCD2AAD5660}"/>
              </a:ext>
            </a:extLst>
          </p:cNvPr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 — confusion matrix</a:t>
            </a:r>
            <a:endParaRPr lang="en-US" sz="29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33A45DB-4491-00A2-FA9F-605052D13673}"/>
              </a:ext>
            </a:extLst>
          </p:cNvPr>
          <p:cNvSpPr/>
          <p:nvPr/>
        </p:nvSpPr>
        <p:spPr>
          <a:xfrm>
            <a:off x="8119872" y="39776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2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8E2C876-8E89-CB65-EA6F-878CEB1FB145}"/>
              </a:ext>
            </a:extLst>
          </p:cNvPr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33EC4-4065-EA63-9982-13EBF0135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228" y="1463040"/>
            <a:ext cx="658368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97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PREDICTIONS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— ground truth vs prediction (val set)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633472" cy="1325880"/>
          </a:xfrm>
          <a:prstGeom prst="roundRect">
            <a:avLst>
              <a:gd name="adj" fmla="val 2069"/>
            </a:avLst>
          </a:prstGeom>
          <a:solidFill>
            <a:srgbClr val="EEF4F3"/>
          </a:solidFill>
          <a:ln w="12700">
            <a:solidFill>
              <a:srgbClr val="5B6B6E"/>
            </a:solidFill>
            <a:prstDash val="dash"/>
          </a:ln>
        </p:spPr>
      </p:sp>
      <p:pic>
        <p:nvPicPr>
          <p:cNvPr id="6" name="Image 0" descr="icons/imag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64" y="2153641"/>
            <a:ext cx="450799" cy="4507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58190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28416" y="1828800"/>
            <a:ext cx="2633472" cy="1325880"/>
          </a:xfrm>
          <a:prstGeom prst="roundRect">
            <a:avLst>
              <a:gd name="adj" fmla="val 2069"/>
            </a:avLst>
          </a:prstGeom>
          <a:solidFill>
            <a:srgbClr val="EEF4F3"/>
          </a:solidFill>
          <a:ln w="12700">
            <a:solidFill>
              <a:srgbClr val="00A896"/>
            </a:solidFill>
            <a:prstDash val="dash"/>
          </a:ln>
        </p:spPr>
      </p:sp>
      <p:pic>
        <p:nvPicPr>
          <p:cNvPr id="9" name="Image 1" descr="icons/image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752" y="2153641"/>
            <a:ext cx="450799" cy="4507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28416" y="258190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66928" y="1810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72200" y="1828800"/>
            <a:ext cx="2633472" cy="1325880"/>
          </a:xfrm>
          <a:prstGeom prst="roundRect">
            <a:avLst>
              <a:gd name="adj" fmla="val 2069"/>
            </a:avLst>
          </a:prstGeom>
          <a:solidFill>
            <a:srgbClr val="EEF4F3"/>
          </a:solidFill>
          <a:ln w="12700">
            <a:solidFill>
              <a:srgbClr val="5B6B6E"/>
            </a:solidFill>
            <a:prstDash val="dash"/>
          </a:ln>
        </p:spPr>
      </p:sp>
      <p:pic>
        <p:nvPicPr>
          <p:cNvPr id="13" name="Image 2" descr="icons/imag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536" y="2153641"/>
            <a:ext cx="450799" cy="4507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58190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000" dirty="0"/>
          </a:p>
        </p:txBody>
      </p:sp>
      <p:pic>
        <p:nvPicPr>
          <p:cNvPr id="16" name="Image 3" descr="icons/image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5024" y="2153641"/>
            <a:ext cx="450799" cy="4507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33688" y="258190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172200" y="1810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66928" y="3319272"/>
            <a:ext cx="2633472" cy="1325880"/>
          </a:xfrm>
          <a:prstGeom prst="roundRect">
            <a:avLst>
              <a:gd name="adj" fmla="val 2069"/>
            </a:avLst>
          </a:prstGeom>
          <a:solidFill>
            <a:srgbClr val="EEF4F3"/>
          </a:solidFill>
          <a:ln w="12700">
            <a:solidFill>
              <a:srgbClr val="5B6B6E"/>
            </a:solidFill>
            <a:prstDash val="dash"/>
          </a:ln>
        </p:spPr>
      </p:sp>
      <p:pic>
        <p:nvPicPr>
          <p:cNvPr id="20" name="Image 4" descr="icons/imag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64" y="3644113"/>
            <a:ext cx="450799" cy="45079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6928" y="407237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328416" y="3319272"/>
            <a:ext cx="2633472" cy="1325880"/>
          </a:xfrm>
          <a:prstGeom prst="roundRect">
            <a:avLst>
              <a:gd name="adj" fmla="val 2069"/>
            </a:avLst>
          </a:prstGeom>
          <a:solidFill>
            <a:srgbClr val="EEF4F3"/>
          </a:solidFill>
          <a:ln w="12700">
            <a:solidFill>
              <a:srgbClr val="00A896"/>
            </a:solidFill>
            <a:prstDash val="dash"/>
          </a:ln>
        </p:spPr>
      </p:sp>
      <p:pic>
        <p:nvPicPr>
          <p:cNvPr id="23" name="Image 5" descr="icons/image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752" y="3644113"/>
            <a:ext cx="450799" cy="45079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328416" y="407237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66928" y="33009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pic>
        <p:nvPicPr>
          <p:cNvPr id="27" name="Image 6" descr="icons/imag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536" y="3644113"/>
            <a:ext cx="450799" cy="45079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172200" y="407237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000" dirty="0"/>
          </a:p>
        </p:txBody>
      </p:sp>
      <p:pic>
        <p:nvPicPr>
          <p:cNvPr id="30" name="Image 7" descr="icons/image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5024" y="3644113"/>
            <a:ext cx="450799" cy="450799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933688" y="407237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6172200" y="33009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4" name="Image 8" descr="icons/imag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64" y="5134585"/>
            <a:ext cx="450799" cy="450799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66928" y="556284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000" dirty="0"/>
          </a:p>
        </p:txBody>
      </p:sp>
      <p:pic>
        <p:nvPicPr>
          <p:cNvPr id="37" name="Image 9" descr="icons/image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752" y="5134585"/>
            <a:ext cx="450799" cy="450799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3328416" y="556284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566928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41" name="Image 10" descr="icons/imag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536" y="5134585"/>
            <a:ext cx="450799" cy="450799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172200" y="556284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000" dirty="0"/>
          </a:p>
        </p:txBody>
      </p:sp>
      <p:pic>
        <p:nvPicPr>
          <p:cNvPr id="44" name="Image 11" descr="icons/image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5024" y="5134585"/>
            <a:ext cx="450799" cy="450799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8933688" y="556284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46" name="Text 32"/>
          <p:cNvSpPr/>
          <p:nvPr/>
        </p:nvSpPr>
        <p:spPr>
          <a:xfrm>
            <a:off x="617220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8" name="Text 34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F0D83B8-40B4-755D-222F-FFEBB44CE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28800"/>
            <a:ext cx="2669739" cy="140610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79990F3-A190-8F5E-CBF9-4BC8B48868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16" y="1822826"/>
            <a:ext cx="2669738" cy="141208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816055A-120C-6CA8-0CDC-3AB73C2EF2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305175"/>
            <a:ext cx="2669738" cy="145286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4C4F681-68BE-A236-6DC5-43641F813F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417" y="3306832"/>
            <a:ext cx="2669738" cy="145120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ABAB443-17BC-BF92-B78D-4FA69EAA2E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7" y="4848195"/>
            <a:ext cx="2651451" cy="147765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48B20C5-FA2E-1244-AE58-39AE8ED8E3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8416" y="4842401"/>
            <a:ext cx="2669737" cy="147765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0C5FD6B-6515-54AE-A7DB-841BDE66ED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5030" y="1810512"/>
            <a:ext cx="2647810" cy="1424394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ED33AEF-D822-513C-D2AD-292B4A130BB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6518" y="1810512"/>
            <a:ext cx="2611544" cy="141208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7B485AA-665B-6320-27E2-B4A94FFD62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1" y="3309827"/>
            <a:ext cx="2633472" cy="144820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7A20AA1D-5482-D1FE-8AF3-84144863E6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26518" y="3311173"/>
            <a:ext cx="2594922" cy="144686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397BF847-8EB6-33B9-9174-C4915088162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3849" y="4848195"/>
            <a:ext cx="2629817" cy="146503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C8CB0C4-57E5-F8EA-211D-7AB35C33E56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33688" y="4848195"/>
            <a:ext cx="2604374" cy="14776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TRANSFER-LEARNING HYPOTHESIS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solder-defect pretrain beat a generic start?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a controlled test: does initialising from a PCB-solder dataset (SolDef_AI) transfer better than standard ImageNet/COCO weights?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83080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83080" y="27889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initialised from standard ImageNet / COCO weights, fine-tuned on our 12-class PCB dataset.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452360" y="2331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SolDef_AI pretrained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52360" y="27889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YOLO11s, but first pretrained on the SolDef_AI solder-defect dataset, then fine-tuned identically.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98348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comparison: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are identical in every way — same model, data, split, augmentation, epochs — except the initial weights. Any difference is attributable to pretraining alone.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SolDef_AI solder-defect dataset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dataset of solder-joint appearance defects, used to pretrain the backbone before fine-tuning on our PCB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" y="1883664"/>
            <a:ext cx="5148072" cy="2993129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D3E4E2"/>
            </a:solidFill>
            <a:prstDash val="solid"/>
          </a:ln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pic>
        <p:nvPicPr>
          <p:cNvPr id="6" name="Image 0" descr="mlimg/solde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5074920" cy="29199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52744" y="1883664"/>
            <a:ext cx="5148072" cy="2993129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D3E4E2"/>
            </a:solidFill>
            <a:prstDash val="solid"/>
          </a:ln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pic>
        <p:nvPicPr>
          <p:cNvPr id="8" name="Image 1" descr="mlimg/soldef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920240"/>
            <a:ext cx="5074920" cy="29199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931657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48920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8F4F3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428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77240" y="5504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37560" y="48920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8F4F3"/>
          </a:solidFill>
          <a:ln/>
        </p:spPr>
      </p:sp>
      <p:sp>
        <p:nvSpPr>
          <p:cNvPr id="14" name="Text 10"/>
          <p:cNvSpPr/>
          <p:nvPr/>
        </p:nvSpPr>
        <p:spPr>
          <a:xfrm>
            <a:off x="356616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671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566160" y="5504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48920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8F4F3"/>
          </a:solidFill>
          <a:ln/>
        </p:spPr>
      </p:sp>
      <p:sp>
        <p:nvSpPr>
          <p:cNvPr id="17" name="Text 13"/>
          <p:cNvSpPr/>
          <p:nvPr/>
        </p:nvSpPr>
        <p:spPr>
          <a:xfrm>
            <a:off x="635508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355080" y="5504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classes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915400" y="489204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083D42"/>
          </a:solidFill>
          <a:ln/>
        </p:spPr>
      </p:sp>
      <p:sp>
        <p:nvSpPr>
          <p:cNvPr id="20" name="Text 16"/>
          <p:cNvSpPr/>
          <p:nvPr/>
        </p:nvSpPr>
        <p:spPr>
          <a:xfrm>
            <a:off x="8961120" y="5029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961120" y="53035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· exc_solder · poor_solder · no_good · spike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configuration — identical for both arms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8521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8288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· 9.4M params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852160" cy="4572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22860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640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8521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epochs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7432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(patience 30)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852160" cy="4572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layers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32004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8521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57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36576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852160" cy="4572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41148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HSV, rotate, shear, scale, flip, mosaic, copy-paste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58521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6040" y="45720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train + 30 val (non-def)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5852160" cy="45720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029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50292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rarest class · 80/20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182880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9516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identical?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95160" y="256032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baseline (A) and the pretrained model (B) are fine-tuned with exactly this recipe, on the same data and split.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95160" y="352044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difference is the initial weights — so any performance gap isolates the effect of pretraining alone.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995160" y="4617720"/>
            <a:ext cx="4389120" cy="0"/>
          </a:xfrm>
          <a:prstGeom prst="line">
            <a:avLst/>
          </a:prstGeom>
          <a:noFill/>
          <a:ln w="12700">
            <a:solidFill>
              <a:srgbClr val="2FB0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47548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 train · 110 val images · 12 classes · plus non-def negatives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PRETRAINED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SolDef_AI pretraining (B) underperforms baseline (A)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F4F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0.733  </a:t>
            </a:r>
            <a:r>
              <a:rPr lang="en-US" sz="1400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0.631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F4F3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810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0.469  </a:t>
            </a:r>
            <a:r>
              <a:rPr lang="en-US" sz="1400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0.412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20440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F4F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810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0.810  </a:t>
            </a:r>
            <a:r>
              <a:rPr lang="en-US" sz="1400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0.725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09360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14173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8F4F3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98280" y="1810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0.645  </a:t>
            </a:r>
            <a:r>
              <a:rPr lang="en-US" sz="1400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0.534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98280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−0.111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697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baseline (ImageNet init)   ·   B = SolDef_AI pretrained   ·   values are overall (all classes)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11109960" cy="384048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0632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30632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mAP50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30632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mAP50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12680" y="306324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(B−A)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447288"/>
            <a:ext cx="1110996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447288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Crack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23560" y="3447288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18120" y="3447288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0.828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12680" y="3447288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-0.167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3689604"/>
            <a:ext cx="1110996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89604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Damage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23560" y="3689604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0.109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18120" y="3689604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12680" y="3689604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−0.101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3931920"/>
            <a:ext cx="1110996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3931920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Liftup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23560" y="3931920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18120" y="3931920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012680" y="3931920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−0.317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8640" y="4174236"/>
            <a:ext cx="1110996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4174236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Missing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23560" y="4174236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818120" y="4174236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012680" y="4174236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−0.148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48640" y="4416552"/>
            <a:ext cx="1110996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4416552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No Solder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23560" y="4416552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818120" y="4416552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0.092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012680" y="4416552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−0.073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48640" y="4658868"/>
            <a:ext cx="1110996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4658868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Solder Dry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623560" y="4658868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0.745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818120" y="4658868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012680" y="4658868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−0.065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48640" y="4901184"/>
            <a:ext cx="11109960" cy="2423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7" name="Text 55"/>
          <p:cNvSpPr/>
          <p:nvPr/>
        </p:nvSpPr>
        <p:spPr>
          <a:xfrm>
            <a:off x="685800" y="4901184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Damage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623560" y="4901184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818120" y="4901184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012680" y="4901184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50"/>
                </a:solidFill>
              </a:rPr>
              <a:t>+0.000</a:t>
            </a:r>
          </a:p>
        </p:txBody>
      </p:sp>
      <p:sp>
        <p:nvSpPr>
          <p:cNvPr id="61" name="Shape 59"/>
          <p:cNvSpPr/>
          <p:nvPr/>
        </p:nvSpPr>
        <p:spPr>
          <a:xfrm>
            <a:off x="548640" y="5143500"/>
            <a:ext cx="1110996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62" name="Text 60"/>
          <p:cNvSpPr/>
          <p:nvPr/>
        </p:nvSpPr>
        <p:spPr>
          <a:xfrm>
            <a:off x="685800" y="5143500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Wrong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623560" y="5143500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818120" y="5143500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0012680" y="5143500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+0.009</a:t>
            </a:r>
            <a:endParaRPr lang="en-US" sz="1050" dirty="0">
              <a:solidFill>
                <a:srgbClr val="00B050"/>
              </a:solidFill>
            </a:endParaRPr>
          </a:p>
        </p:txBody>
      </p:sp>
      <p:sp>
        <p:nvSpPr>
          <p:cNvPr id="66" name="Shape 64"/>
          <p:cNvSpPr/>
          <p:nvPr/>
        </p:nvSpPr>
        <p:spPr>
          <a:xfrm>
            <a:off x="548640" y="5385816"/>
            <a:ext cx="1110996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685800" y="5385816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RYB Wrong Sequence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5623560" y="5385816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818120" y="5385816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0.962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0012680" y="5385816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−0.033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48640" y="5628132"/>
            <a:ext cx="1110996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72" name="Text 70"/>
          <p:cNvSpPr/>
          <p:nvPr/>
        </p:nvSpPr>
        <p:spPr>
          <a:xfrm>
            <a:off x="685800" y="5628132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Ball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5623560" y="5628132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818120" y="5628132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0.611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0012680" y="5628132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−0.258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6" name="Shape 74"/>
          <p:cNvSpPr/>
          <p:nvPr/>
        </p:nvSpPr>
        <p:spPr>
          <a:xfrm>
            <a:off x="548640" y="5870448"/>
            <a:ext cx="1110996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685800" y="5870448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Short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5623560" y="5870448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0.566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7818120" y="5870448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0.495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0012680" y="5870448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−0.071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1" name="Shape 79"/>
          <p:cNvSpPr/>
          <p:nvPr/>
        </p:nvSpPr>
        <p:spPr>
          <a:xfrm>
            <a:off x="548640" y="6112764"/>
            <a:ext cx="1110996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82" name="Text 80"/>
          <p:cNvSpPr/>
          <p:nvPr/>
        </p:nvSpPr>
        <p:spPr>
          <a:xfrm>
            <a:off x="685800" y="6112764"/>
            <a:ext cx="48463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5623560" y="6112764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0.863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7818120" y="6112764"/>
            <a:ext cx="21031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0.863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10012680" y="6112764"/>
            <a:ext cx="169164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</a:t>
            </a:r>
            <a:endParaRPr lang="en-US" sz="1050" dirty="0">
              <a:solidFill>
                <a:srgbClr val="00B050"/>
              </a:solidFill>
            </a:endParaRPr>
          </a:p>
        </p:txBody>
      </p:sp>
      <p:sp>
        <p:nvSpPr>
          <p:cNvPr id="86" name="Text 84"/>
          <p:cNvSpPr/>
          <p:nvPr/>
        </p:nvSpPr>
        <p:spPr>
          <a:xfrm>
            <a:off x="548640" y="6409944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457200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ln w="25400">
            <a:solidFill>
              <a:srgbClr val="0E4E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-365760"/>
            <a:ext cx="2926080" cy="2926080"/>
          </a:xfrm>
          <a:prstGeom prst="ellipse">
            <a:avLst/>
          </a:prstGeom>
          <a:ln w="25400">
            <a:solidFill>
              <a:srgbClr val="1455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domain pretraining did not transfer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was reasonable — but the data shows it did not hold, and the pattern points to a clear cause.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icons/seedl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2306848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3055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SolDef_AI is small and narrow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508760" y="25146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 images, 5 solder-appearance classes on one board type — too limited to learn broadly useful features.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icons/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88" y="326696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0906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Pretraining over-specialised the backbone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508760" y="34747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epochs on that narrow set displaced the broad, general-purpose features that ImageNet initialisation provides.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t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88" y="422708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507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spaces do not align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508760" y="44348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SolDef_AI labels solder-joint quality; our task is component-level defects (missing, liftup, crack, polarity) — different concepts.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icons/chartB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088" y="5187208"/>
            <a:ext cx="342351" cy="3423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50109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drop is near-uniform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1508760" y="53949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fell ~10 pts across almost every class — including the solder classes themselves, ruling out a "solder features transferred" story.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594360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822960" y="59436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 on a small, narrow domain dataset can hurt — a broad ImageNet start generalised better for our diverse defect classes.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THE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Narrowing to 8 well-populated classes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classes had too few validation instances (≤2) to give reliable per-class numbers. Restricting to the 8 well-populated classes yields a trustworthy benchmark.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· 8 classes</a:t>
            </a:r>
            <a:endParaRPr lang="en-US" sz="1700" dirty="0"/>
          </a:p>
        </p:txBody>
      </p:sp>
      <p:pic>
        <p:nvPicPr>
          <p:cNvPr id="7" name="Image 0" descr="icons/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15768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Short</a:t>
            </a:r>
            <a:endParaRPr lang="en-US" sz="1150" dirty="0"/>
          </a:p>
        </p:txBody>
      </p:sp>
      <p:pic>
        <p:nvPicPr>
          <p:cNvPr id="9" name="Image 1" descr="icons/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715768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39312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Solder Dry</a:t>
            </a:r>
            <a:endParaRPr lang="en-US" sz="1150" dirty="0"/>
          </a:p>
        </p:txBody>
      </p:sp>
      <p:pic>
        <p:nvPicPr>
          <p:cNvPr id="11" name="Image 2" descr="icons/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27832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4712" y="32095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No Solder</a:t>
            </a:r>
            <a:endParaRPr lang="en-US" sz="1150" dirty="0"/>
          </a:p>
        </p:txBody>
      </p:sp>
      <p:pic>
        <p:nvPicPr>
          <p:cNvPr id="13" name="Image 3" descr="icons/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227832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39312" y="32095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Missing</a:t>
            </a:r>
            <a:endParaRPr lang="en-US" sz="1150" dirty="0"/>
          </a:p>
        </p:txBody>
      </p:sp>
      <p:pic>
        <p:nvPicPr>
          <p:cNvPr id="15" name="Image 4" descr="icons/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39896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4712" y="3721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Ball</a:t>
            </a:r>
            <a:endParaRPr lang="en-US" sz="1150" dirty="0"/>
          </a:p>
        </p:txBody>
      </p:sp>
      <p:pic>
        <p:nvPicPr>
          <p:cNvPr id="17" name="Image 5" descr="icons/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739896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639312" y="3721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Wrong</a:t>
            </a:r>
            <a:endParaRPr lang="en-US" sz="1150" dirty="0"/>
          </a:p>
        </p:txBody>
      </p:sp>
      <p:pic>
        <p:nvPicPr>
          <p:cNvPr id="19" name="Image 6" descr="icons/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51960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124712" y="42336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RYB Wrong Sequence</a:t>
            </a:r>
            <a:endParaRPr lang="en-US" sz="1150" dirty="0"/>
          </a:p>
        </p:txBody>
      </p:sp>
      <p:pic>
        <p:nvPicPr>
          <p:cNvPr id="21" name="Image 7" descr="icons/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251960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639312" y="42336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Liftup</a:t>
            </a:r>
            <a:endParaRPr lang="en-US" sz="1150" dirty="0"/>
          </a:p>
        </p:txBody>
      </p:sp>
      <p:sp>
        <p:nvSpPr>
          <p:cNvPr id="23" name="Shape 13"/>
          <p:cNvSpPr/>
          <p:nvPr/>
        </p:nvSpPr>
        <p:spPr>
          <a:xfrm>
            <a:off x="6172200" y="205740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4" name="Text 14"/>
          <p:cNvSpPr/>
          <p:nvPr/>
        </p:nvSpPr>
        <p:spPr>
          <a:xfrm>
            <a:off x="644652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Dropped · 4 rarest</a:t>
            </a:r>
            <a:endParaRPr lang="en-US" sz="1700" dirty="0"/>
          </a:p>
        </p:txBody>
      </p:sp>
      <p:sp>
        <p:nvSpPr>
          <p:cNvPr id="25" name="Text 15"/>
          <p:cNvSpPr/>
          <p:nvPr/>
        </p:nvSpPr>
        <p:spPr>
          <a:xfrm>
            <a:off x="6446520" y="2651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instances for meaningful per-class evaluation: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6492240" y="316382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17"/>
          <p:cNvSpPr/>
          <p:nvPr/>
        </p:nvSpPr>
        <p:spPr>
          <a:xfrm>
            <a:off x="6766560" y="3108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Crack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9692640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inst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6492240" y="357530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20"/>
          <p:cNvSpPr/>
          <p:nvPr/>
        </p:nvSpPr>
        <p:spPr>
          <a:xfrm>
            <a:off x="676656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Damage</a:t>
            </a:r>
            <a:endParaRPr lang="en-US" sz="1250" dirty="0"/>
          </a:p>
        </p:txBody>
      </p:sp>
      <p:sp>
        <p:nvSpPr>
          <p:cNvPr id="31" name="Text 21"/>
          <p:cNvSpPr/>
          <p:nvPr/>
        </p:nvSpPr>
        <p:spPr>
          <a:xfrm>
            <a:off x="9692640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inst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6492240" y="398678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3" name="Text 23"/>
          <p:cNvSpPr/>
          <p:nvPr/>
        </p:nvSpPr>
        <p:spPr>
          <a:xfrm>
            <a:off x="676656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Damage</a:t>
            </a:r>
            <a:endParaRPr lang="en-US" sz="1250" dirty="0"/>
          </a:p>
        </p:txBody>
      </p:sp>
      <p:sp>
        <p:nvSpPr>
          <p:cNvPr id="34" name="Text 24"/>
          <p:cNvSpPr/>
          <p:nvPr/>
        </p:nvSpPr>
        <p:spPr>
          <a:xfrm>
            <a:off x="969264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inst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6492240" y="439826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6" name="Text 26"/>
          <p:cNvSpPr/>
          <p:nvPr/>
        </p:nvSpPr>
        <p:spPr>
          <a:xfrm>
            <a:off x="676656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9692640" y="4343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inst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548640" y="512064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9" name="Text 29"/>
          <p:cNvSpPr/>
          <p:nvPr/>
        </p:nvSpPr>
        <p:spPr>
          <a:xfrm>
            <a:off x="822960" y="51206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8-class dataset: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 images · 565 annotations · 407 train / 101 val images (plus 96 train + 24 val non-def negatives).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8-CLASS 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solid, well-behaved 8-class baseline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at 640px, 150 epochs, with negatives. Overall metrics and per-class mAP@0.5 on the 101-image validation 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0.757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337560" y="18745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083D42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0.524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083D4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0.799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915400" y="18745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083D4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11109960" cy="384048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46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577840" y="3246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63840" y="32461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 (bar)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630168"/>
            <a:ext cx="11109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30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Missing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3630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3712098"/>
            <a:ext cx="3430646" cy="1287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922776"/>
            <a:ext cx="11109960" cy="29260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227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Solder Dry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9227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4004706"/>
            <a:ext cx="2838663" cy="1287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215384"/>
            <a:ext cx="11109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2153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Ball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42153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63840" y="4297314"/>
            <a:ext cx="3009839" cy="1287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4507992"/>
            <a:ext cx="11109960" cy="29260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5079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Liftup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45079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63840" y="4589922"/>
            <a:ext cx="3013405" cy="1287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800600"/>
            <a:ext cx="11109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8006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RYB Wrong Sequence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77840" y="4800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3840" y="4882530"/>
            <a:ext cx="2938516" cy="1287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5093208"/>
            <a:ext cx="11109960" cy="29260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0932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Short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50932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0.707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63840" y="5175138"/>
            <a:ext cx="2521275" cy="1287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5385816"/>
            <a:ext cx="11109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53858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Wrong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77840" y="53858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863840" y="5467746"/>
            <a:ext cx="2328702" cy="1287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9" name="Shape 47"/>
          <p:cNvSpPr/>
          <p:nvPr/>
        </p:nvSpPr>
        <p:spPr>
          <a:xfrm>
            <a:off x="548640" y="5678424"/>
            <a:ext cx="11109960" cy="29260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567842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No Solder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577840" y="56784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863840" y="5760354"/>
            <a:ext cx="1512052" cy="1287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6025896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values are mAP@0.5. Component No Solder is the hardest class (low-contrast, ambiguous).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EXPERIMENT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resolution does not help — 640px wins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at 640 / 960 / 1280px with everything else identical. Per-class values are mAP@0.5:0.95.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406640" cy="402336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26280" y="19202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15000" y="19202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03720" y="192024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7406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225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Liftup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3225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23225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23225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42616"/>
            <a:ext cx="7406640" cy="32004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426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Missing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6426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26426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6426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62656"/>
            <a:ext cx="7406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9626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No Solder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29626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9626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9626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82696"/>
            <a:ext cx="7406640" cy="32004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2826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Solder Dry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32826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32826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2826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602736"/>
            <a:ext cx="7406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602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Wrong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36027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36027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6560" y="36027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922776"/>
            <a:ext cx="7406640" cy="32004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9227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RYB Wrong Sequence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0" y="3922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3922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3922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242816"/>
            <a:ext cx="7406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42428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Ball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89120" y="42428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42428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66560" y="42428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4562856"/>
            <a:ext cx="7406640" cy="32004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45628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Short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389120" y="45628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77840" y="45628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66560" y="45628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0.442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4992624"/>
            <a:ext cx="7406640" cy="402336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499262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(mean)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389120" y="499262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0.757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577840" y="499262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766560" y="499262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0.725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48640" y="5413248"/>
            <a:ext cx="7406640" cy="402336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541324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389120" y="541324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0.524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577840" y="541324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0.485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766560" y="541324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0.461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183880" y="1920240"/>
            <a:ext cx="3474720" cy="3977640"/>
          </a:xfrm>
          <a:prstGeom prst="roundRect">
            <a:avLst>
              <a:gd name="adj" fmla="val 2105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458200" y="21945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2" name="Image 0" descr="icons/bullsey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5" y="2370125"/>
            <a:ext cx="380390" cy="380390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93268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845820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640px is the right choice.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8458200" y="365760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960px is within noise on mAP@0.5 and worse on the stricter mAP@0.5:0.95. 1280px is worse on both.</a:t>
            </a:r>
            <a:endParaRPr lang="en-US" sz="1250" dirty="0"/>
          </a:p>
        </p:txBody>
      </p:sp>
      <p:sp>
        <p:nvSpPr>
          <p:cNvPr id="66" name="Text 63"/>
          <p:cNvSpPr/>
          <p:nvPr/>
        </p:nvSpPr>
        <p:spPr>
          <a:xfrm>
            <a:off x="8458200" y="4892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is not the bottleneck — and 640px trains fastest.</a:t>
            </a:r>
            <a:endParaRPr lang="en-US" sz="1250" dirty="0"/>
          </a:p>
        </p:txBody>
      </p:sp>
      <p:sp>
        <p:nvSpPr>
          <p:cNvPr id="68" name="Text 65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572000" cy="4572000"/>
          </a:xfrm>
          <a:prstGeom prst="ellipse">
            <a:avLst/>
          </a:prstGeom>
          <a:ln w="25400">
            <a:solidFill>
              <a:srgbClr val="0E4E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-365760"/>
            <a:ext cx="2926080" cy="2926080"/>
          </a:xfrm>
          <a:prstGeom prst="ellipse">
            <a:avLst/>
          </a:prstGeom>
          <a:ln w="25400">
            <a:solidFill>
              <a:srgbClr val="1455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 CV: the benchmark is real, not luck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five times on different folds gives every metric an error bar — the real measurement uncertainty.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E4E5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3401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0.021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2286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E4E5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566160" y="3401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0.020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E4E54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55080" y="3401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0.040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15400" y="2286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0E4E54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24688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0" y="2788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0.718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144000" y="3401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0.030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· YOLO11s · 640px · 8 classes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846320"/>
            <a:ext cx="731520" cy="731520"/>
          </a:xfrm>
          <a:prstGeom prst="ellipse">
            <a:avLst/>
          </a:prstGeom>
          <a:solidFill>
            <a:srgbClr val="083D42"/>
          </a:solidFill>
          <a:ln/>
        </p:spPr>
      </p:sp>
      <p:pic>
        <p:nvPicPr>
          <p:cNvPr id="26" name="Image 0" descr="icons/checkCirc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5021885"/>
            <a:ext cx="380390" cy="38039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737360" y="484632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this proves: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the single-split baseline (0.757) sits right inside 0.761 ± 0.021 — it was a real, stable result. (2) The resolution differences (≤ 0.04) fall within one std, so they are noise — 640px is confirmed as the right choice.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TRANSFORMERS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detector paradigms: CNN vs. transformer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is an object-detection problem — every defect needs a box (where) and a class (what). Two architectural families solve it very differently.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4462272"/>
          </a:xfrm>
          <a:prstGeom prst="roundRect">
            <a:avLst>
              <a:gd name="adj" fmla="val 1860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762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detectors · YOLO family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83080" y="2606040"/>
            <a:ext cx="2971800" cy="329184"/>
          </a:xfrm>
          <a:prstGeom prst="roundRect">
            <a:avLst>
              <a:gd name="adj" fmla="val 13889"/>
            </a:avLst>
          </a:prstGeom>
          <a:solidFill>
            <a:srgbClr val="083D42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60604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94660" y="29169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783080" y="3136392"/>
            <a:ext cx="2971800" cy="329184"/>
          </a:xfrm>
          <a:prstGeom prst="roundRect">
            <a:avLst>
              <a:gd name="adj" fmla="val 13889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136392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94660" y="34472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783080" y="3666744"/>
            <a:ext cx="2971800" cy="329184"/>
          </a:xfrm>
          <a:prstGeom prst="roundRect">
            <a:avLst>
              <a:gd name="adj" fmla="val 13889"/>
            </a:avLst>
          </a:prstGeom>
          <a:solidFill>
            <a:srgbClr val="E9A23B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666744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+ anchor boxes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4660" y="39776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83080" y="4197096"/>
            <a:ext cx="2971800" cy="329184"/>
          </a:xfrm>
          <a:prstGeom prst="roundRect">
            <a:avLst>
              <a:gd name="adj" fmla="val 13889"/>
            </a:avLst>
          </a:prstGeom>
          <a:solidFill>
            <a:srgbClr val="E9A23B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4197096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 (duplicate removal)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94660" y="45079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783080" y="4727448"/>
            <a:ext cx="2971800" cy="329184"/>
          </a:xfrm>
          <a:prstGeom prst="roundRect">
            <a:avLst>
              <a:gd name="adj" fmla="val 13889"/>
            </a:avLst>
          </a:prstGeom>
          <a:solidFill>
            <a:srgbClr val="083D42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727448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7034" y="5280660"/>
            <a:ext cx="118872" cy="1188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222346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receptive field — weak at global, relational defects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57034" y="5650992"/>
            <a:ext cx="118872" cy="1188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1128033" y="558698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Hand-tuned components (anchors, thresholds)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57034" y="6023653"/>
            <a:ext cx="118872" cy="1188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968789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Duplicate-suppression (NMS) is brittle on dense boards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217920" y="2011680"/>
            <a:ext cx="5440680" cy="4462272"/>
          </a:xfrm>
          <a:prstGeom prst="roundRect">
            <a:avLst>
              <a:gd name="adj" fmla="val 1860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21762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transformers · DETR family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52360" y="2606040"/>
            <a:ext cx="2971800" cy="329184"/>
          </a:xfrm>
          <a:prstGeom prst="roundRect">
            <a:avLst>
              <a:gd name="adj" fmla="val 13889"/>
            </a:avLst>
          </a:prstGeom>
          <a:solidFill>
            <a:srgbClr val="0E4E54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260604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63940" y="29169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452360" y="3136392"/>
            <a:ext cx="2971800" cy="329184"/>
          </a:xfrm>
          <a:prstGeom prst="roundRect">
            <a:avLst>
              <a:gd name="adj" fmla="val 13889"/>
            </a:avLst>
          </a:prstGeom>
          <a:solidFill>
            <a:srgbClr val="0E4E54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3136392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63940" y="34472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452360" y="3666744"/>
            <a:ext cx="2971800" cy="329184"/>
          </a:xfrm>
          <a:prstGeom prst="roundRect">
            <a:avLst>
              <a:gd name="adj" fmla="val 13889"/>
            </a:avLst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0" y="3666744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(self-attention)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63940" y="39776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452360" y="4197096"/>
            <a:ext cx="2971800" cy="329184"/>
          </a:xfrm>
          <a:prstGeom prst="roundRect">
            <a:avLst>
              <a:gd name="adj" fmla="val 13889"/>
            </a:avLst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4197096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queries → set prediction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63940" y="45079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452360" y="4727448"/>
            <a:ext cx="2971800" cy="329184"/>
          </a:xfrm>
          <a:prstGeom prst="roundRect">
            <a:avLst>
              <a:gd name="adj" fmla="val 13889"/>
            </a:avLst>
          </a:prstGeom>
          <a:solidFill>
            <a:srgbClr val="0E4E54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0" y="4727448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 ·  no NMS</a:t>
            </a:r>
            <a:endParaRPr lang="en-US" sz="1100" dirty="0"/>
          </a:p>
        </p:txBody>
      </p:sp>
      <p:pic>
        <p:nvPicPr>
          <p:cNvPr id="43" name="Image 0" descr="icons/checkCircl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5237183"/>
            <a:ext cx="164592" cy="164592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6784848" y="5200607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self-attention — captures relational defects</a:t>
            </a:r>
            <a:endParaRPr lang="en-US" sz="1080" dirty="0"/>
          </a:p>
        </p:txBody>
      </p:sp>
      <p:pic>
        <p:nvPicPr>
          <p:cNvPr id="45" name="Image 1" descr="icons/checkCircl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5605272"/>
            <a:ext cx="164592" cy="164592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784848" y="5555843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no anchors, no NMS</a:t>
            </a:r>
            <a:endParaRPr lang="en-US" sz="1080" dirty="0"/>
          </a:p>
        </p:txBody>
      </p:sp>
      <p:pic>
        <p:nvPicPr>
          <p:cNvPr id="47" name="Image 2" descr="icons/checkCircl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5998464"/>
            <a:ext cx="164592" cy="164592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784848" y="5949293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 by design (bipartite matching)</a:t>
            </a:r>
            <a:endParaRPr lang="en-US" sz="1080" dirty="0"/>
          </a:p>
        </p:txBody>
      </p:sp>
      <p:sp>
        <p:nvSpPr>
          <p:cNvPr id="50" name="Text 45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TRANSFORMERS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transformers fit PCB defects better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transformer’s properties line up directly with what makes assembled-PCB defects hard for CNN detectors.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658368" cy="65836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icons/lin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235256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128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context via self-attention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8803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defects are relational — a solder short is "two pads that should be separate, connected"; a tombstone is defined by pose relative to both pads; polarity by orientation vs. footprint. Self-attention reasons across the whole board in one step.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194560"/>
            <a:ext cx="658368" cy="65836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mage 1" descr="icons/ba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248" y="235256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2128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anchors, no NMS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10528" y="28803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prediction removes the two hand-tuned heuristics that fail on dense, overlapping, multi-scale boards — where anchors and NMS wrongly merge or split nearby detections.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06240"/>
            <a:ext cx="658368" cy="65836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2" descr="icons/expan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68" y="436424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22452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multi-scale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1248" y="48920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span a sub-millimetre solder ball to a whole missing component in one image. Deformable multi-scale attention handles this extreme size range — arguably the single most important property for PCBs.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393192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06240"/>
            <a:ext cx="658368" cy="65836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3" descr="icons/databas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248" y="436424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22452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with data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10528" y="48920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built-in assumptions than CNNs means transformers keep improving as data grows, where CNNs tend to plateau — a strong fit for a scaling PCB-inspection dataset.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RT-DETR: real-time detection transformer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end-to-end DETR fast enough for real-time use (Baidu, CVPR 2024) — the base architecture for our transformer experiments.</a:t>
            </a:r>
            <a:endParaRPr lang="en-US" sz="1500" dirty="0"/>
          </a:p>
        </p:txBody>
      </p:sp>
      <p:pic>
        <p:nvPicPr>
          <p:cNvPr id="5" name="Image 0" descr="icons/checkCircl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221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6732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NMS  —  </a:t>
            </a:r>
            <a:r>
              <a:rPr lang="en-US" sz="135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no post-processing</a:t>
            </a:r>
            <a:endParaRPr lang="en-US" sz="1350" dirty="0"/>
          </a:p>
        </p:txBody>
      </p:sp>
      <p:pic>
        <p:nvPicPr>
          <p:cNvPr id="7" name="Image 1" descr="icons/checkCircl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2511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427024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  —  </a:t>
            </a:r>
            <a:r>
              <a:rPr lang="en-US" sz="135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YOLO latency</a:t>
            </a:r>
            <a:endParaRPr lang="en-US" sz="1350" dirty="0"/>
          </a:p>
        </p:txBody>
      </p:sp>
      <p:pic>
        <p:nvPicPr>
          <p:cNvPr id="9" name="Image 2" descr="icons/checkCircl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2803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7731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YOLO  —  </a:t>
            </a:r>
            <a:r>
              <a:rPr lang="en-US" sz="135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at equal latency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1520" y="5989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et al., "DETRs Beat YOLOs on Real-time Object Detection", CVPR 2024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086600" y="1051560"/>
            <a:ext cx="4526280" cy="4617720"/>
          </a:xfrm>
          <a:prstGeom prst="roundRect">
            <a:avLst>
              <a:gd name="adj" fmla="val 808"/>
            </a:avLst>
          </a:prstGeom>
          <a:solidFill>
            <a:srgbClr val="0E4E54"/>
          </a:solidFill>
          <a:ln w="15875">
            <a:solidFill>
              <a:srgbClr val="028090"/>
            </a:solidFill>
            <a:prstDash val="dash"/>
          </a:ln>
        </p:spPr>
      </p:sp>
      <p:pic>
        <p:nvPicPr>
          <p:cNvPr id="13" name="Image 3" descr="icons/chartArea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65176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69480" y="352044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Figure 1 ]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latency —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sits above the YOLO curve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269480" y="52578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Zhao et al., CVPR 2024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AC3389-3A25-98D8-8D37-952C2D002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35" y="1037758"/>
            <a:ext cx="5274400" cy="463152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RT-DETR: two problems it solves at once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is fast but needs NMS; earlier DETRs dropped NMS but were too slow to run in real time. RT-DETR fixes both.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 · YOLO needs NMS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118872" cy="1188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517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every inference — extra latency that grows with box count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200400"/>
            <a:ext cx="118872" cy="1188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54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/ IoU thresholds trade recall vs. 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118872" cy="1188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576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hand-tuned per dataset — brittle and unstable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2 · DETRs were too slow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2697480"/>
            <a:ext cx="118872" cy="1188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6517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DETRs already removed NMS — but at high computational cost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3200400"/>
            <a:ext cx="118872" cy="1188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154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multi-scale encoder is the bottleneck (heavy attention)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3703320"/>
            <a:ext cx="118872" cy="11887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6576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NMS-free advantage was never usable in real 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8920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0" descr="icons/checkCircl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5067605"/>
            <a:ext cx="380390" cy="38039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83080" y="4892040"/>
            <a:ext cx="9646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RT-DETR’s answer: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prediction removes NMS (no duplicates by design, no thresholds), and an efficient hybrid encoder cuts the DETR compute cost — making it the first DETR that is both NMS-free and genuinely real-time.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RT-DETR works — four stages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flows through four stages. The efficient hybrid encoder is the key innovation that makes a transformer detector real-time.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79476" y="1979676"/>
            <a:ext cx="2670048" cy="2743200"/>
          </a:xfrm>
          <a:prstGeom prst="roundRect">
            <a:avLst>
              <a:gd name="adj" fmla="val 2740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4460" y="2208276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394460" y="22082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16636" y="2985516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2356" y="3488436"/>
            <a:ext cx="23042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extracts features at three scales (S3, S4, S5) from the image.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72384" y="3108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86319" y="1952244"/>
            <a:ext cx="2670048" cy="2743200"/>
          </a:xfrm>
          <a:prstGeom prst="roundRect">
            <a:avLst>
              <a:gd name="adj" fmla="val 2740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01303" y="2180844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301303" y="21808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3479" y="2958084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encoder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469199" y="3461004"/>
            <a:ext cx="23042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AIFI adds global context on the deepest map; CCFF fuses scales efficiently. This is what keeps it fast.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50525" y="3122676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65538" y="1965960"/>
            <a:ext cx="2670048" cy="2743200"/>
          </a:xfrm>
          <a:prstGeom prst="roundRect">
            <a:avLst>
              <a:gd name="adj" fmla="val 2740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80522" y="21945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280522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2698" y="297180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selection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48418" y="3474720"/>
            <a:ext cx="23042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Uncertainty-minimal selection picks the best encoder features as initial object queries.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66641" y="3095244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42476" y="1952244"/>
            <a:ext cx="2670048" cy="2743200"/>
          </a:xfrm>
          <a:prstGeom prst="roundRect">
            <a:avLst>
              <a:gd name="adj" fmla="val 2740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157460" y="2180844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10157460" y="21808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279636" y="2958084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 + heads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25356" y="3461004"/>
            <a:ext cx="23042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refines queries into final boxes and defect classes — no NMS needed.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79476" y="4892040"/>
            <a:ext cx="11433048" cy="1005840"/>
          </a:xfrm>
          <a:prstGeom prst="roundRect">
            <a:avLst>
              <a:gd name="adj" fmla="val 7273"/>
            </a:avLst>
          </a:prstGeom>
          <a:solidFill>
            <a:srgbClr val="E8F4F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training configuration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230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rtdetr-l (HGNetv2 backbone)     </a:t>
            </a: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 </a:t>
            </a: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640px     </a:t>
            </a: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 </a:t>
            </a: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(patience 30)     </a:t>
            </a: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 </a:t>
            </a: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  </a:t>
            </a: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 </a:t>
            </a: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 (AdamW-style)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55321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 </a:t>
            </a: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HSV, rotate 15°, shear 10°, scale 0.5, flips, mosaic     </a:t>
            </a: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</a:t>
            </a: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 · 150 negatives · same stratified split &amp; recipe as YOLO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RT-DETR architecture — full overview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772400" cy="4297680"/>
          </a:xfrm>
          <a:prstGeom prst="roundRect">
            <a:avLst>
              <a:gd name="adj" fmla="val 851"/>
            </a:avLst>
          </a:prstGeom>
          <a:solidFill>
            <a:srgbClr val="EEF4F3"/>
          </a:solidFill>
          <a:ln w="15875">
            <a:solidFill>
              <a:srgbClr val="028090"/>
            </a:solidFill>
            <a:prstDash val="dash"/>
          </a:ln>
        </p:spPr>
      </p:sp>
      <p:pic>
        <p:nvPicPr>
          <p:cNvPr id="5" name="Image 0" descr="icons/networ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9260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9319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Figure 4 — Overview of RT-DETR 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Zhao et al., "DETRs Beat YOLOs on Real-time Object Detection", CVPR 2024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949043" y="1600200"/>
            <a:ext cx="3108960" cy="4297680"/>
          </a:xfrm>
          <a:prstGeom prst="roundRect">
            <a:avLst>
              <a:gd name="adj" fmla="val 2353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77643" y="1810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diagram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77643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77643" y="254203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three feature scales (S3, S4, S5) into the encoder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77643" y="30083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AIFI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177643" y="326440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on S5 only — the deepest, most semantic map (lower maps aren’t worth it)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77643" y="37307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CCFF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177643" y="398678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scales via lightweight fusion blocks (RepBlocks)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77643" y="44531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selection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177643" y="4709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queries by aligning classification and localization confidence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177643" y="5175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177643" y="543153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queries into boxes + classes — NMS-free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C3264D6-C528-24CF-2DBB-BCD8A348E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8760"/>
            <a:ext cx="894904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accuracy at near-YOLO cost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RT-DETR’s thesis: for a given inference latency, it reaches higher accuracy than YOLO — while training at nearly the same speed. Our own run bears this 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12848"/>
            <a:ext cx="777240" cy="7772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pic>
        <p:nvPicPr>
          <p:cNvPr id="7" name="Image 0" descr="icons/stopwatch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2399386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~29 min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41248" y="36118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YOLO ~26 min — only ~3 min (~11%) longer for the full 150 epochs, despite being a heavier transformer.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9659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2212848"/>
            <a:ext cx="777240" cy="7772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pic>
        <p:nvPicPr>
          <p:cNvPr id="13" name="Image 1" descr="icons/tachomete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826" y="2399386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90288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33.6 ms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4590288" y="36118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FPS per image on our setup — genuinely real-time detection.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46720" y="19659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8F4F3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39328" y="2212848"/>
            <a:ext cx="777240" cy="7772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pic>
        <p:nvPicPr>
          <p:cNvPr id="19" name="Image 2" descr="icons/awar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5866" y="2399386"/>
            <a:ext cx="404165" cy="4041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8116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39328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recipe</a:t>
            </a:r>
            <a:endParaRPr lang="en-US" sz="2700" dirty="0"/>
          </a:p>
        </p:txBody>
      </p:sp>
      <p:sp>
        <p:nvSpPr>
          <p:cNvPr id="22" name="Text 17"/>
          <p:cNvSpPr/>
          <p:nvPr/>
        </p:nvSpPr>
        <p:spPr>
          <a:xfrm>
            <a:off x="8339328" y="36118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640px, 150 epochs, identical data, split, batch and augmentation as the YOLO baseline.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43484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77240" y="45537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time — 150 epochs  (lower = faster · estimated)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77240" y="4828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3017520" y="4855464"/>
            <a:ext cx="6583680" cy="20116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7" name="Shape 22"/>
          <p:cNvSpPr/>
          <p:nvPr/>
        </p:nvSpPr>
        <p:spPr>
          <a:xfrm>
            <a:off x="3017520" y="4855464"/>
            <a:ext cx="6583680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8" name="Text 23"/>
          <p:cNvSpPr/>
          <p:nvPr/>
        </p:nvSpPr>
        <p:spPr>
          <a:xfrm>
            <a:off x="9738360" y="4828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 min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77240" y="5102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3017520" y="5129784"/>
            <a:ext cx="6583680" cy="20116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1" name="Shape 26"/>
          <p:cNvSpPr/>
          <p:nvPr/>
        </p:nvSpPr>
        <p:spPr>
          <a:xfrm>
            <a:off x="3017520" y="5129784"/>
            <a:ext cx="590261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27"/>
          <p:cNvSpPr/>
          <p:nvPr/>
        </p:nvSpPr>
        <p:spPr>
          <a:xfrm>
            <a:off x="9738360" y="51023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 min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548640" y="553212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822960" y="5532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delivers transformer-grade detection at near-YOLO training cost and real-time inference — the "no compromise" result the paper promises, reproduced on our own setup.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RT-DETR on our 8-class PCB dataset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beats the YOLO baseline on every metric — most clearly on the stricter mAP@0.5:0.95 (tighter boxes).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8F4F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0.757   </a:t>
            </a: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0.770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+0.013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8F4F3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2860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0.524   </a:t>
            </a: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0.556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852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8F4F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0.799   </a:t>
            </a: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0.807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852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+0.008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15400" y="18745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8F4F3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1965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98280" y="22860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0.743   </a:t>
            </a: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0.749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98280" y="2852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+0.006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6035040" cy="365760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60350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Missing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6035040" cy="27432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RYB Wrong Sequence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Ball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617720"/>
            <a:ext cx="6035040" cy="27432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Liftup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892040"/>
            <a:ext cx="60350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Solder Dry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0" y="4892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0.776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166360"/>
            <a:ext cx="6035040" cy="27432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Short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0" y="5166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440680"/>
            <a:ext cx="60350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Wrong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54880" y="5440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0.678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715000"/>
            <a:ext cx="6035040" cy="274320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5715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No Solder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54880" y="5715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0.391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60350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values are mAP@0.5.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58000" y="3429000"/>
            <a:ext cx="4800600" cy="2697480"/>
          </a:xfrm>
          <a:prstGeom prst="roundRect">
            <a:avLst>
              <a:gd name="adj" fmla="val 2712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32320" y="3703320"/>
            <a:ext cx="685800" cy="685800"/>
          </a:xfrm>
          <a:prstGeom prst="ellipse">
            <a:avLst/>
          </a:prstGeom>
          <a:solidFill>
            <a:srgbClr val="083D42"/>
          </a:solidFill>
          <a:ln/>
        </p:spPr>
      </p:sp>
      <p:pic>
        <p:nvPicPr>
          <p:cNvPr id="51" name="Image 0" descr="icons/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3867912"/>
            <a:ext cx="356616" cy="356616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795528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gains are modest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132320" y="443484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RT-DETR’s edge comes from a weaker inductive bias that </a:t>
            </a:r>
            <a:r>
              <a:rPr lang="en-US" sz="12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data to pay off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 only ~550 images it is data-starved, so it can’t show the decisive margin it reaches on large benchmarks.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7132320" y="55321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i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so, it already matches and slightly beats YOLO — with far more headroom as data scales.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GMO-DETR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GMO-DETR: a lightweight RT-DETR for PCBA defects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assembled-PCB inspection (J. Real-Time Image Processing, 2026) — the current state of the art for this exact task.</a:t>
            </a:r>
            <a:endParaRPr lang="en-US" sz="1500" dirty="0"/>
          </a:p>
        </p:txBody>
      </p:sp>
      <p:pic>
        <p:nvPicPr>
          <p:cNvPr id="5" name="Image 0" descr="icons/checkCircl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221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76732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98.27% mAP@0.5  —  </a:t>
            </a:r>
            <a:r>
              <a:rPr lang="en-US" sz="135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on PCBA-DET</a:t>
            </a:r>
            <a:endParaRPr lang="en-US" sz="1350" dirty="0"/>
          </a:p>
        </p:txBody>
      </p:sp>
      <p:pic>
        <p:nvPicPr>
          <p:cNvPr id="7" name="Image 1" descr="icons/checkCircl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2511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427024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12.05M params  —  </a:t>
            </a:r>
            <a:r>
              <a:rPr lang="en-US" sz="135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39.4% smaller than RT-DETR</a:t>
            </a:r>
            <a:endParaRPr lang="en-US" sz="1350" dirty="0"/>
          </a:p>
        </p:txBody>
      </p:sp>
      <p:pic>
        <p:nvPicPr>
          <p:cNvPr id="9" name="Image 2" descr="icons/checkCircl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2803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7731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 GFLOPs  —  </a:t>
            </a:r>
            <a:r>
              <a:rPr lang="en-US" sz="135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 less computation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1520" y="5943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7F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et al., "GMO-DETR: a lightweight transformer for accurate and efficient PCBA defect detection", JRTIP 2026</a:t>
            </a:r>
            <a:endParaRPr lang="en-US" sz="1000" dirty="0"/>
          </a:p>
        </p:txBody>
      </p:sp>
      <p:pic>
        <p:nvPicPr>
          <p:cNvPr id="13" name="Image 3" descr="icons/chartArea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65176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69480" y="352044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Figure 2 ]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computational cost —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GMO-DETR in the upper-left corner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269480" y="52578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B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 et al., JRTIP 2026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E8F6316-0687-C71F-4898-5AA0E08E8D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037" y="2084832"/>
            <a:ext cx="5377613" cy="302937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GMO-DETR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targeted changes to RT-DETR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GMO-DETR keeps RT-DETR’s end-to-end design and replaces four components — each chosen to cut computation while improving sensitivity to small, low-contrast defects.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109960" cy="420624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71800" y="2011680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uses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0" y="201168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GMO-DETR uses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0" y="201168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32304"/>
            <a:ext cx="11109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32304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71800" y="24323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/ HGNetv2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0" y="2432304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GMONet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0" y="2432304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GhostConv stem + dual-path MambaOut blocks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090672"/>
            <a:ext cx="11109960" cy="65836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90672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attention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71800" y="309067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AIFI (self-attention)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0" y="3090672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TAIFI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0" y="3090672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token-statistics attention, linear complexity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1109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490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 fusion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71800" y="37490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RepC3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0" y="374904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0" y="3749040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fusion + directional attention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407408"/>
            <a:ext cx="11109960" cy="658368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407408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 convolutions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71800" y="440740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Conv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0" y="4407408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GSConv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0" y="4407408"/>
            <a:ext cx="4343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group-shuffle convolutions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50292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goal: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reduce parameters by 39.4% and computation by 28.8% versus RT-DETR — while raising mAP@0.5 — making the model deployable on edge hardware in a factory.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GMO-DETR architecture — full overview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772400" cy="4297680"/>
          </a:xfrm>
          <a:prstGeom prst="roundRect">
            <a:avLst>
              <a:gd name="adj" fmla="val 851"/>
            </a:avLst>
          </a:prstGeom>
          <a:solidFill>
            <a:srgbClr val="EEF4F3"/>
          </a:solidFill>
          <a:ln w="15875">
            <a:solidFill>
              <a:srgbClr val="028090"/>
            </a:solidFill>
            <a:prstDash val="dash"/>
          </a:ln>
        </p:spPr>
      </p:sp>
      <p:pic>
        <p:nvPicPr>
          <p:cNvPr id="5" name="Image 0" descr="icons/networ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9260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9319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Figure 1 — Architecture of the GMO-DETR network 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 et al., JRTIP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549640" y="1600200"/>
            <a:ext cx="3108960" cy="4297680"/>
          </a:xfrm>
          <a:prstGeom prst="roundRect">
            <a:avLst>
              <a:gd name="adj" fmla="val 2353"/>
            </a:avLst>
          </a:prstGeom>
          <a:solidFill>
            <a:srgbClr val="083D42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1810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diagram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7824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78240" y="254203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GhostConv stem → GMO-Block1–4, emitting three feature scales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778240" y="30083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TAIFI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78240" y="326440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attention on the deepest map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778240" y="37307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CAFF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78240" y="3986784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fusion at each scale junction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778240" y="44531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GSConv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778240" y="4709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neck convolution, for a uniform lightweight neck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778240" y="5175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778240" y="5431536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IoU-aware query selection → boxes + classes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4C9A43F-F97F-DF95-EB0A-A3629F778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98354"/>
            <a:ext cx="8549640" cy="524398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GMONet</a:t>
            </a:r>
            <a:r>
              <a:rPr lang="en-US" sz="2900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the backbone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297680"/>
          </a:xfrm>
          <a:prstGeom prst="roundRect">
            <a:avLst>
              <a:gd name="adj" fmla="val 851"/>
            </a:avLst>
          </a:prstGeom>
          <a:solidFill>
            <a:srgbClr val="EEF4F3"/>
          </a:solidFill>
          <a:ln w="15875">
            <a:solidFill>
              <a:srgbClr val="028090"/>
            </a:solidFill>
            <a:prstDash val="dash"/>
          </a:ln>
        </p:spPr>
      </p:sp>
      <p:pic>
        <p:nvPicPr>
          <p:cNvPr id="5" name="Image 0" descr="icons/networ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971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886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Figure 3 ]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427939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GMONet structure — backbone, DMambaOut, and the Gated CNN block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 et al., JRTIP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858000" y="16459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818120" y="1737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903720" y="277977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269748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GhostConv at the input only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299923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image is the most redundant stage, so cheap operations save the most here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0" y="373989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365760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 blocks deeper in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23760" y="395935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path models long-range context; a shortcut path carries detail straight through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470001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7223760" y="461772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ResNet backbone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23760" y="491947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parameters, without flattening fine structure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66560" y="5440680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95160" y="5440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us: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defect signatures survive to the deep layers instead of being washed out — the shortcut path is what preserves them.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4D8DFEC-F46A-F99C-A2B1-B49CBBA27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" y="1357240"/>
            <a:ext cx="6233160" cy="504355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CAFF</a:t>
            </a:r>
            <a:r>
              <a:rPr lang="en-US" sz="2900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context-aware feature fusion</a:t>
            </a:r>
            <a:endParaRPr lang="en-US" sz="2900" dirty="0"/>
          </a:p>
        </p:txBody>
      </p:sp>
      <p:pic>
        <p:nvPicPr>
          <p:cNvPr id="5" name="Image 0" descr="icons/networ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971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886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Figure 5 ]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427939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 module — multi-branch aggregation refined by Context Anchor Attention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 et al., JRTIP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858000" y="16459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818120" y="1737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903720" y="277977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269748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static fusion block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299923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multi-branch structure aggregates features along better gradient paths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0" y="373989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365760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Anchor Attention on top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23760" y="395935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 context, then applies horizontal and vertical strip convolutions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470001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7223760" y="461772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saliency map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23760" y="491947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regions amplified, busy background suppressed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66560" y="5440680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95160" y="5440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us: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sensitivity — well matched to elongated defects such as circuit traces and hairline cracks.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B976CF0-B594-8E3F-9087-21558DF8C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0" y="2113472"/>
            <a:ext cx="6625949" cy="332720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TAIFI</a:t>
            </a:r>
            <a:r>
              <a:rPr lang="en-US" sz="2900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token-statistics attention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297680"/>
          </a:xfrm>
          <a:prstGeom prst="roundRect">
            <a:avLst>
              <a:gd name="adj" fmla="val 851"/>
            </a:avLst>
          </a:prstGeom>
          <a:solidFill>
            <a:srgbClr val="EEF4F3"/>
          </a:solidFill>
          <a:ln w="15875">
            <a:solidFill>
              <a:srgbClr val="028090"/>
            </a:solidFill>
            <a:prstDash val="dash"/>
          </a:ln>
        </p:spPr>
      </p:sp>
      <p:pic>
        <p:nvPicPr>
          <p:cNvPr id="5" name="Image 0" descr="icons/networ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971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886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Figure 6 ]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427939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TAIFI module — low-rank projection heads and statistical token weighting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 et al., JRTIP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858000" y="16459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818120" y="1737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903720" y="277977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269748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self-attention is quadratic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299923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explodes on high-resolution boards, and faint anomalies get diluted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0" y="373989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365760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tokens statistically instead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23760" y="395935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each token deviates from the overall feature distribution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470001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7223760" y="461772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cost in sequence length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23760" y="491947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all-pairs comparison is ever computed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66560" y="5440680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95160" y="5440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us: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surfacing low-contrast defects — micro-voids and hairline cracks against a noisy substrate.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BEAED83-9049-E8AD-237E-C2F257982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" y="1508760"/>
            <a:ext cx="6272784" cy="472106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GSConv</a:t>
            </a:r>
            <a:r>
              <a:rPr lang="en-US" sz="2900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lightweight neck convolutions</a:t>
            </a:r>
            <a:endParaRPr lang="en-US" sz="2900" dirty="0"/>
          </a:p>
        </p:txBody>
      </p:sp>
      <p:pic>
        <p:nvPicPr>
          <p:cNvPr id="5" name="Image 0" descr="icons/networ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971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886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Figure 4 ]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427939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GSConv — standard and depthwise branches, concatenated and channel-shuffled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 et al., JRTIP 2026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858000" y="16459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1645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818120" y="1737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903720" y="277977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269748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branches instead of one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299923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convolution and a depthwise convolution, each producing half the channels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0" y="373989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7223760" y="365760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Concatenate, then channel-shuffle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23760" y="395935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is preserved despite the split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470001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7223760" y="461772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at every neck stage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23760" y="4919472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 lightweight neck rather than a patchwork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766560" y="5440680"/>
            <a:ext cx="4892040" cy="475488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95160" y="5440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us: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the computation of a standard convolution, with feature fusion quality intact.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1E3F191-505C-E362-AF5D-F3BA4B53D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832897"/>
            <a:ext cx="6217920" cy="447236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the art on PCBA-DET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paper’s benchmark on 6,384 assembled-motherboard images. GMO-DETR leads on accuracy and efficiency simultaneously.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457200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6596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2532888" y="1965960"/>
            <a:ext cx="905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3493008" y="1965960"/>
            <a:ext cx="905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(%)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453128" y="1965960"/>
            <a:ext cx="905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(%)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5413248" y="1965960"/>
            <a:ext cx="905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373368" y="19659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562088" y="196596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mAP@.5:.95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842248" y="1965960"/>
            <a:ext cx="905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Params(M)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9802368" y="1965960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10808208" y="1965960"/>
            <a:ext cx="905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Size(MB)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111099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423160"/>
            <a:ext cx="18196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32888" y="2423160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148.01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93008" y="2423160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53128" y="2423160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13248" y="2423160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73368" y="2423160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97.27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62088" y="2423160"/>
            <a:ext cx="1225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58.98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42248" y="2423160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802368" y="2423160"/>
            <a:ext cx="9509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67.7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808208" y="2423160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044952"/>
            <a:ext cx="11109960" cy="621792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044952"/>
            <a:ext cx="18196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32888" y="3044952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87.57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93008" y="3044952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96.61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53128" y="3044952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96.19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13248" y="3044952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96.39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73368" y="3044952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97.96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562088" y="3044952"/>
            <a:ext cx="1225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58.81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842248" y="3044952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19.88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802368" y="3044952"/>
            <a:ext cx="9509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808208" y="3044952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3666744"/>
            <a:ext cx="11109960" cy="6217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3666744"/>
            <a:ext cx="18196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GMO-DETR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32888" y="3666744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86.62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493008" y="3666744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97.10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453128" y="3666744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96.81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13248" y="3666744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96.95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373368" y="366674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98.27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562088" y="3666744"/>
            <a:ext cx="1225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58.08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842248" y="3666744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12.05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802368" y="3666744"/>
            <a:ext cx="9509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0808208" y="3666744"/>
            <a:ext cx="9052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46.5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4361688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best of the three. GMO-DETR wins 6 of 9: precision, recall, F1, mAP@0.5, parameters and GFLOPs.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44348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/>
        </p:spPr>
      </p:sp>
      <p:sp>
        <p:nvSpPr>
          <p:cNvPr id="51" name="Shape 49"/>
          <p:cNvSpPr/>
          <p:nvPr/>
        </p:nvSpPr>
        <p:spPr>
          <a:xfrm>
            <a:off x="804672" y="46177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2" name="Image 0" descr="icons/trophy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4749394"/>
            <a:ext cx="285293" cy="285293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463040" y="46451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accuracy</a:t>
            </a:r>
            <a:endParaRPr lang="en-US" sz="1350" dirty="0"/>
          </a:p>
        </p:txBody>
      </p:sp>
      <p:sp>
        <p:nvSpPr>
          <p:cNvPr id="54" name="Text 51"/>
          <p:cNvSpPr/>
          <p:nvPr/>
        </p:nvSpPr>
        <p:spPr>
          <a:xfrm>
            <a:off x="822960" y="523036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precision, recall, F1 and mAP@0.5 — the primary industrial metric.</a:t>
            </a:r>
            <a:endParaRPr lang="en-US" sz="1080" dirty="0"/>
          </a:p>
        </p:txBody>
      </p:sp>
      <p:sp>
        <p:nvSpPr>
          <p:cNvPr id="55" name="Shape 52"/>
          <p:cNvSpPr/>
          <p:nvPr/>
        </p:nvSpPr>
        <p:spPr>
          <a:xfrm>
            <a:off x="4297680" y="44348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/>
        </p:spPr>
      </p:sp>
      <p:sp>
        <p:nvSpPr>
          <p:cNvPr id="56" name="Shape 53"/>
          <p:cNvSpPr/>
          <p:nvPr/>
        </p:nvSpPr>
        <p:spPr>
          <a:xfrm>
            <a:off x="4553712" y="46177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7" name="Image 1" descr="icons/compres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386" y="4749394"/>
            <a:ext cx="285293" cy="285293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5212080" y="46451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efficiency</a:t>
            </a:r>
            <a:endParaRPr lang="en-US" sz="1350" dirty="0"/>
          </a:p>
        </p:txBody>
      </p:sp>
      <p:sp>
        <p:nvSpPr>
          <p:cNvPr id="59" name="Text 55"/>
          <p:cNvSpPr/>
          <p:nvPr/>
        </p:nvSpPr>
        <p:spPr>
          <a:xfrm>
            <a:off x="4572000" y="523036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model (12.05M) and lowest computation (40.6 GFLOPs) of the three.</a:t>
            </a:r>
            <a:endParaRPr lang="en-US" sz="1080" dirty="0"/>
          </a:p>
        </p:txBody>
      </p:sp>
      <p:sp>
        <p:nvSpPr>
          <p:cNvPr id="60" name="Shape 56"/>
          <p:cNvSpPr/>
          <p:nvPr/>
        </p:nvSpPr>
        <p:spPr>
          <a:xfrm>
            <a:off x="8046720" y="44348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/>
        </p:spPr>
      </p:sp>
      <p:sp>
        <p:nvSpPr>
          <p:cNvPr id="61" name="Shape 57"/>
          <p:cNvSpPr/>
          <p:nvPr/>
        </p:nvSpPr>
        <p:spPr>
          <a:xfrm>
            <a:off x="8302752" y="46177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2" name="Image 2" descr="icons/clipboar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4426" y="4749394"/>
            <a:ext cx="285293" cy="285293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8961120" y="46451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Statistically verified</a:t>
            </a:r>
            <a:endParaRPr lang="en-US" sz="1350" dirty="0"/>
          </a:p>
        </p:txBody>
      </p:sp>
      <p:sp>
        <p:nvSpPr>
          <p:cNvPr id="64" name="Text 59"/>
          <p:cNvSpPr/>
          <p:nvPr/>
        </p:nvSpPr>
        <p:spPr>
          <a:xfrm>
            <a:off x="8321040" y="523036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runs: 98.29% ± 0.128%; Wilcoxon test p = 0.031 vs the baseline.</a:t>
            </a:r>
            <a:endParaRPr lang="en-US" sz="1080" dirty="0"/>
          </a:p>
        </p:txBody>
      </p:sp>
      <p:sp>
        <p:nvSpPr>
          <p:cNvPr id="66" name="Text 61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Rebuilding GMO-DETR from the paper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released no code. The entire architecture was reconstructed from the paper’s equations and figures, then integrated into a working detector.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od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24615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6771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modules implemented from scratch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670048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GMONet (GhostConv stem, GMO-Blocks, dual-path DMambaOut, Gated CNN blocks), CAFF with Context Anchor Attention, TAIFI with token-statistics attention, and GSConv.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ons/clipboar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5" y="369600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350215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module checked against its original source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00200" y="3904488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gated block against MambaOut, the attention block against the Context Anchor Attention paper, and the token-statistics attention against its reference implementation — rather than inferred from equations alone.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7548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icons/wrenc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5" y="493044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73659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into a working detector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00200" y="5138928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as custom modules inside the Ultralytics framework and expressed as a full model definition on top of RT-DETR, so the decoder, query selection and detection loss are the proven originals.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89788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82296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trainable GMO-DETR — reproduced independently from a paper with no public implementation.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GMO-DETR trained on our PCB dataset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the paper’s configuration on our 12-class dataset: 640px, 200 epochs, batch 8, AdamW, lr 1e-4 · 2.6 hours on a single GPU · 19.3 ms inference.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083D4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0.534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083D42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1938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38728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0.350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083D42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1938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27648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915400" y="182880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083D42"/>
          </a:solidFill>
          <a:ln/>
        </p:spPr>
      </p:sp>
      <p:sp>
        <p:nvSpPr>
          <p:cNvPr id="15" name="Text 13"/>
          <p:cNvSpPr/>
          <p:nvPr/>
        </p:nvSpPr>
        <p:spPr>
          <a:xfrm>
            <a:off x="9116568" y="1938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16568" y="2194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0.408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943600" cy="347472"/>
          </a:xfrm>
          <a:prstGeom prst="rect">
            <a:avLst/>
          </a:prstGeom>
          <a:solidFill>
            <a:srgbClr val="083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17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class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30175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64992"/>
            <a:ext cx="594360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64992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tombstone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364992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607308"/>
            <a:ext cx="594360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07308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ryb_wrong_sequence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3607308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849624"/>
            <a:ext cx="594360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849624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component_crack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3849624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091940"/>
            <a:ext cx="594360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091940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component_solder_dry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4091940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334256"/>
            <a:ext cx="594360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334256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polarity_wrong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4334256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576572"/>
            <a:ext cx="594360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576572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component_missing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576572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818888"/>
            <a:ext cx="594360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818888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solder_short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4818888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061204"/>
            <a:ext cx="594360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5061204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solder_ball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5061204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303520"/>
            <a:ext cx="594360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5303520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led_damage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63440" y="5303520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0.398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545836"/>
            <a:ext cx="594360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545836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component_no_solder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63440" y="5545836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5788152"/>
            <a:ext cx="594360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5788152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component_liftup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63440" y="5788152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6030468"/>
            <a:ext cx="5943600" cy="242316"/>
          </a:xfrm>
          <a:prstGeom prst="rect">
            <a:avLst/>
          </a:prstGeom>
          <a:solidFill>
            <a:srgbClr val="E8F4F3"/>
          </a:solidFill>
          <a:ln/>
        </p:spPr>
      </p:sp>
      <p:sp>
        <p:nvSpPr>
          <p:cNvPr id="54" name="Text 52"/>
          <p:cNvSpPr/>
          <p:nvPr/>
        </p:nvSpPr>
        <p:spPr>
          <a:xfrm>
            <a:off x="685800" y="6030468"/>
            <a:ext cx="365760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component_damage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663440" y="6030468"/>
            <a:ext cx="1645920" cy="242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" y="63185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mAP@0.5 · 12 classes · 110 validation images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766560" y="3017520"/>
            <a:ext cx="4892040" cy="3063240"/>
          </a:xfrm>
          <a:prstGeom prst="roundRect">
            <a:avLst>
              <a:gd name="adj" fmla="val 2388"/>
            </a:avLst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040880" y="3291840"/>
            <a:ext cx="685800" cy="685800"/>
          </a:xfrm>
          <a:prstGeom prst="ellipse">
            <a:avLst/>
          </a:prstGeom>
          <a:solidFill>
            <a:srgbClr val="083D42"/>
          </a:solidFill>
          <a:ln/>
        </p:spPr>
      </p:sp>
      <p:pic>
        <p:nvPicPr>
          <p:cNvPr id="59" name="Image 0" descr="icons/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3456432"/>
            <a:ext cx="356616" cy="356616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7863840" y="3337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below the published figure</a:t>
            </a:r>
            <a:endParaRPr lang="en-US" sz="1500" dirty="0"/>
          </a:p>
        </p:txBody>
      </p:sp>
      <p:sp>
        <p:nvSpPr>
          <p:cNvPr id="61" name="Text 58"/>
          <p:cNvSpPr/>
          <p:nvPr/>
        </p:nvSpPr>
        <p:spPr>
          <a:xfrm>
            <a:off x="7040880" y="41148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reaches 98.27% on </a:t>
            </a:r>
            <a:r>
              <a:rPr lang="en-US" sz="12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6,384 images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trained on </a:t>
            </a:r>
            <a:r>
              <a:rPr lang="en-US" sz="1250" b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lightweight transformer with four new modules is the most data-hungry model we have tried — it cannot converge to its potential on a set this small.</a:t>
            </a:r>
            <a:endParaRPr lang="en-US" sz="1250" dirty="0"/>
          </a:p>
        </p:txBody>
      </p:sp>
      <p:sp>
        <p:nvSpPr>
          <p:cNvPr id="62" name="Text 59"/>
          <p:cNvSpPr/>
          <p:nvPr/>
        </p:nvSpPr>
        <p:spPr>
          <a:xfrm>
            <a:off x="7040880" y="54864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i="1" dirty="0">
                <a:solidFill>
                  <a:srgbClr val="08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proven and trains stably — the bottleneck is data, not the implementation.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GMO-DETR PREDICTIONS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GMO-DETR — ground truth vs prediction (val set)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8" name="Text 34"/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8DF2A5AA-53D9-8A9F-8892-E650FDAB2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02" y="1554479"/>
            <a:ext cx="11702596" cy="248941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FCB7E31-C58F-6927-5F92-5D1A5A2C4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02" y="4167421"/>
            <a:ext cx="11702596" cy="244369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A795-1938-693F-A4B7-B5B835D6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A156F2-35DE-EC0D-E038-CA3345F4A34D}"/>
              </a:ext>
            </a:extLst>
          </p:cNvPr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GMO-DETR PREDICTIONS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38AB82-D2D0-541C-7F2B-5265825E3D96}"/>
              </a:ext>
            </a:extLst>
          </p:cNvPr>
          <p:cNvSpPr/>
          <p:nvPr/>
        </p:nvSpPr>
        <p:spPr>
          <a:xfrm>
            <a:off x="50292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GMO-DETR — ground truth vs prediction (val set)</a:t>
            </a:r>
            <a:endParaRPr lang="en-US" sz="2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D5E53C-5F12-52E6-40C8-65D14A39626D}"/>
              </a:ext>
            </a:extLst>
          </p:cNvPr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7543A010-982D-9F2B-E0E2-909088227F0A}"/>
              </a:ext>
            </a:extLst>
          </p:cNvPr>
          <p:cNvSpPr/>
          <p:nvPr/>
        </p:nvSpPr>
        <p:spPr>
          <a:xfrm>
            <a:off x="1147572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D439E-2479-FE30-714B-CCA647C01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28" y="1497258"/>
            <a:ext cx="11806112" cy="2462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F12A12-B49B-CD61-649A-6BF95918A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28" y="4148845"/>
            <a:ext cx="11806112" cy="246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343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83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548640"/>
            <a:ext cx="5669280" cy="5669280"/>
          </a:xfrm>
          <a:prstGeom prst="ellipse">
            <a:avLst/>
          </a:prstGeom>
          <a:ln w="25400">
            <a:solidFill>
              <a:srgbClr val="0E4E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463040"/>
            <a:ext cx="3840480" cy="3840480"/>
          </a:xfrm>
          <a:prstGeom prst="ellipse">
            <a:avLst/>
          </a:prstGeom>
          <a:ln w="25400">
            <a:solidFill>
              <a:srgbClr val="126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2331720"/>
            <a:ext cx="2103120" cy="2103120"/>
          </a:xfrm>
          <a:prstGeom prst="ellipse">
            <a:avLst/>
          </a:prstGeom>
          <a:ln w="25400">
            <a:solidFill>
              <a:srgbClr val="16707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1488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868680" y="3520440"/>
            <a:ext cx="2926080" cy="0"/>
          </a:xfrm>
          <a:prstGeom prst="line">
            <a:avLst/>
          </a:prstGeom>
          <a:noFill/>
          <a:ln w="19050">
            <a:solidFill>
              <a:srgbClr val="2FB0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749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8920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Defect Detection  ·  Imaging front-end and deep-learning detection pipeline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6253</Words>
  <Application>Microsoft Office PowerPoint</Application>
  <PresentationFormat>Widescreen</PresentationFormat>
  <Paragraphs>1287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PCB Defect Detection Project</dc:creator>
  <cp:lastModifiedBy>Vidisha Agarwal</cp:lastModifiedBy>
  <cp:revision>17</cp:revision>
  <dcterms:created xsi:type="dcterms:W3CDTF">2026-07-23T15:40:55Z</dcterms:created>
  <dcterms:modified xsi:type="dcterms:W3CDTF">2026-07-31T13:29:18Z</dcterms:modified>
</cp:coreProperties>
</file>